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2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497" r:id="rId3"/>
    <p:sldId id="499" r:id="rId4"/>
    <p:sldId id="500" r:id="rId5"/>
    <p:sldId id="501" r:id="rId6"/>
    <p:sldId id="512" r:id="rId7"/>
    <p:sldId id="513" r:id="rId8"/>
    <p:sldId id="505" r:id="rId9"/>
    <p:sldId id="503" r:id="rId10"/>
    <p:sldId id="508" r:id="rId11"/>
    <p:sldId id="507" r:id="rId12"/>
    <p:sldId id="504" r:id="rId13"/>
    <p:sldId id="502" r:id="rId14"/>
    <p:sldId id="506" r:id="rId15"/>
    <p:sldId id="269" r:id="rId16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393" autoAdjust="0"/>
    <p:restoredTop sz="94681"/>
  </p:normalViewPr>
  <p:slideViewPr>
    <p:cSldViewPr>
      <p:cViewPr varScale="1">
        <p:scale>
          <a:sx n="75" d="100"/>
          <a:sy n="75" d="100"/>
        </p:scale>
        <p:origin x="1013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49:54.47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299 638 24575,'1'-13'0,"2"1"0,-1-1 0,2 1 0,0-1 0,0 1 0,1 0 0,0 0 0,1 1 0,12-18 0,-7 10 0,15-34 0,-25 51 0,-1 0 0,1 0 0,-1 1 0,1-1 0,-1 0 0,1 0 0,-1 0 0,0 0 0,0 0 0,0 0 0,-1-3 0,1 4 0,0 1 0,0-1 0,0 1 0,-1-1 0,1 1 0,0-1 0,-1 0 0,1 1 0,0-1 0,-1 1 0,1 0 0,-1-1 0,1 1 0,0-1 0,-1 1 0,0 0 0,1-1 0,-1 1 0,1 0 0,-1-1 0,1 1 0,-1 0 0,-1-1 0,0 1 0,-1 0 0,0 0 0,1 0 0,-1 1 0,0-1 0,1 1 0,-1-1 0,0 1 0,1 0 0,-1 0 0,1 0 0,-1 0 0,1 0 0,-4 3 0,-22 16 0,-46 41 0,-9 7 0,-17 16 0,87-77 0,6-10 0,7 1 0,-1 1 0,1 0 0,0 0 0,0 0 0,0-1 0,0 1 0,0 0 0,1 0 0,-1 0 0,0 0 0,0-1 0,1 1 0,-1 0 0,1 0 0,-1 0 0,1 0 0,-1 0 0,1 0 0,1-1 0,17-28 0,0 0 0,-2-1 0,-2-1 0,14-39 0,-27 67 0,-1-1 0,0 1 0,0-1 0,0 1 0,0-1 0,-1 0 0,0 1 0,0-9 0,0 11 0,-1 0 0,1 0 0,-1 1 0,0-1 0,0 0 0,1 1 0,-1-1 0,0 0 0,0 1 0,-1-1 0,1 1 0,0 0 0,0-1 0,-1 1 0,1 0 0,-1 0 0,1 0 0,-1 0 0,1 0 0,-1 0 0,0 0 0,1 0 0,-1 1 0,-2-2 0,1 2 0,0-1 0,1-1 0,-1 1 0,1 0 0,-1-1 0,1 1 0,0-1 0,0 0 0,0 0 0,0 0 0,0 0 0,0 0 0,0 0 0,1 0 0,-1-1 0,1 1 0,-3-5 0,2 3 0,0 0 0,0 0 0,-1 1 0,1 0 0,-1-1 0,-5-4 0,-15-3 0,21 11 0,1 0 0,0-1 0,0 1 0,0 0 0,-1-1 0,1 1 0,0-1 0,0 1 0,0-1 0,0 1 0,0-1 0,0 0 0,0 1 0,0-1 0,0 0 0,0 0 0,0 0 0,1 0 0,-1 0 0,0 0 0,0 0 0,1 0 0,-1 0 0,1 0 0,-1 0 0,1 0 0,0-1 0,-1 1 0,1 0 0,0 0 0,0 0 0,0-3 0,-1 0 0,0 1 0,1-1 0,0 0 0,0 0 0,0 0 0,1 1 0,-1-1 0,1 0 0,0 0 0,0 1 0,0-1 0,0 1 0,1-1 0,-1 1 0,1-1 0,0 1 0,0 0 0,0 0 0,1 0 0,-1 0 0,1 0 0,0 0 0,-1 1 0,1-1 0,0 1 0,0 0 0,1 0 0,-1 0 0,0 0 0,1 1 0,-1-1 0,1 1 0,0 0 0,-1 0 0,1 0 0,0 1 0,0-1 0,-1 1 0,1 0 0,0 0 0,0 0 0,0 0 0,-1 1 0,8 1 0,4 4 0,0 0 0,0 1 0,-1 0 0,25 17 0,13 7 0,-36-22 0,0-2 0,0 0 0,1-1 0,0-1 0,0-1 0,27 4 0,-39-7 0,0 0 0,0-1 0,0 0 0,-1 0 0,1 0 0,0-1 0,0 0 0,0 0 0,-1 0 0,1 0 0,0-1 0,-1 1 0,1-1 0,-1 0 0,0-1 0,1 1 0,-1-1 0,0 0 0,-1 0 0,1 0 0,0 0 0,-1-1 0,0 0 0,0 1 0,0-1 0,0 0 0,-1-1 0,4-5 0,2-15 0,-5 15 0,1 0 0,-1 0 0,2 0 0,7-13 0,-11 22 0,-1 0 0,1-1 0,0 1 0,0 0 0,0 0 0,-1 0 0,1 0 0,1 0 0,-1 0 0,0 0 0,0 1 0,0-1 0,0 0 0,0 1 0,1-1 0,-1 0 0,0 1 0,1 0 0,-1-1 0,0 1 0,1 0 0,-1-1 0,0 1 0,1 0 0,-1 0 0,1 0 0,-1 0 0,0 1 0,1-1 0,-1 0 0,1 1 0,-1-1 0,0 0 0,0 1 0,1 0 0,-1-1 0,0 1 0,0 0 0,2 1 0,2 3 0,-1-1 0,-1 1 0,1 0 0,-1 1 0,0-1 0,0 0 0,0 1 0,-1 0 0,1-1 0,-2 1 0,1 0 0,1 7 0,10 26 0,-9-31 0,1 0 0,0 0 0,0-1 0,1 0 0,0 0 0,1 0 0,-1 0 0,1-1 0,1-1 0,-1 1 0,1-1 0,12 7 0,-7-6 0,-1 0 0,1-1 0,0 0 0,0-1 0,0-1 0,1 0 0,24 2 0,-34-5 0,0 0 0,0 0 0,0-1 0,0 0 0,0 0 0,-1 0 0,1 0 0,0 0 0,0-1 0,-1 0 0,1 0 0,-1 0 0,5-3 0,43-41 0,-9 8 0,9 4 0,2 3 0,1 2 0,66-25 0,-98 46 0,1 2 0,0 1 0,0 0 0,0 2 0,43-1 0,26-3 0,-55 3 0,37 2 0,11-1 0,-73 0 0,-15-2 0,-21-2 0,-2 3 0,0 2 0,-1 1 0,1 1 0,0 1 0,0 1 0,0 2 0,0 0 0,1 2 0,-1 0 0,1 2 0,-41 19 0,61-24 0,-1 0 0,1-1 0,-1 1 0,0-1 0,0 0 0,0-1 0,-1 0 0,1 0 0,0 0 0,0-1 0,0 1 0,-1-2 0,1 1 0,0-1 0,0 0 0,-1 0 0,1 0 0,0-1 0,0 0 0,0 0 0,1-1 0,-1 1 0,1-1 0,-1-1 0,1 1 0,0-1 0,-7-6 0,5 4 0,0 0 0,-1 0 0,0 0 0,0 1 0,0 0 0,-1 1 0,0 0 0,1 0 0,-2 1 0,1 0 0,0 0 0,-1 1 0,1 0 0,-1 1 0,1 0 0,-16 1 0,2 1 0,1 0 0,0 2 0,0 0 0,0 1 0,-35 13 0,32-9 0,17-6 0,-1 0 0,0 1 0,1 0 0,0 1 0,0-1 0,0 2 0,0-1 0,0 1 0,1 0 0,0 1 0,0 0 0,-9 10 0,-2 9 0,1 1 0,1 0 0,1 2 0,-21 53 0,-129 245 0,132-268 0,-71 116 0,88-149 0,15-23 0,-1-1 0,1 1 0,0 0 0,0 0 0,0 0 0,0 0 0,1 0 0,-1 1 0,0-1 0,1 0 0,-1 0 0,1 0 0,0 1 0,0-1 0,0 0 0,0 3 0,1-4 0,-1-1 0,0 1 0,0 0 0,1-1 0,-1 1 0,0-1 0,1 1 0,-1-1 0,0 0 0,1 1 0,-1-1 0,1 1 0,-1-1 0,1 0 0,-1 1 0,1-1 0,-1 0 0,1 1 0,0-1 0,-1 0 0,2 1 0,21-3 0,-11-2 0,0-1 0,0 0 0,-1-1 0,0 0 0,0 0 0,0-1 0,18-17 0,61-66 0,-65 58 0,-2 0 0,-1-2 0,23-46 0,10-16 0,-16 26 0,-26 45 0,1 1 0,27-37 0,-39 58 0,1 0 0,-1 1 0,0-1 0,1 1 0,-1 0 0,1-1 0,0 1 0,0 1 0,0-1 0,0 0 0,0 1 0,0-1 0,0 1 0,1 0 0,-1 0 0,0 1 0,1-1 0,-1 0 0,0 1 0,1 0 0,-1 0 0,1 0 0,-1 0 0,0 1 0,1-1 0,-1 1 0,1 0 0,-1 0 0,0 0 0,0 0 0,0 1 0,0-1 0,0 1 0,0 0 0,0 0 0,0 0 0,0 0 0,-1 0 0,1 1 0,-1-1 0,0 1 0,0 0 0,0-1 0,0 1 0,0 0 0,-1 0 0,1 0 0,-1 1 0,0-1 0,1 0 0,0 7 0,1 35 0,-1 1 0,-8 77 0,5-120 0,0 10 0,-1 1 0,-1-1 0,0 0 0,-1 0 0,0-1 0,-1 1 0,0-1 0,-1 0 0,0 0 0,-1-1 0,-12 15 0,13-17 0,1-1 0,0 0 0,1 1 0,0 0 0,0 0 0,1 1 0,0-1 0,1 1 0,0-1 0,-2 18 0,4-27 0,0 0 0,0 0 0,0 0 0,0 1 0,0-1 0,0 0 0,0 0 0,0 0 0,0 0 0,0 0 0,0 0 0,0 0 0,0 1 0,0-1 0,0 0 0,0 0 0,0 0 0,0 0 0,0 0 0,0 0 0,0 0 0,0 0 0,0 1 0,0-1 0,0 0 0,0 0 0,0 0 0,0 0 0,0 0 0,0 0 0,0 0 0,1 0 0,-1 0 0,0 1 0,0-1 0,0 0 0,0 0 0,0 0 0,0 0 0,0 0 0,0 0 0,0 0 0,1 0 0,-1 0 0,0 0 0,0 0 0,0 0 0,0 0 0,0 0 0,0 0 0,0 0 0,1 0 0,-1 0 0,0 0 0,0 0 0,0 0 0,0 0 0,0 0 0,0 0 0,0 0 0,0 0 0,1 0 0,-1 0 0,7-9 0,7-14 0,41-109 0,31-60 0,-60 137 0,10-19 0,-31 66 0,-1 1 0,1 0 0,0 0 0,1 0 0,0 1 0,12-11 0,-18 16 0,1 0 0,0 0 0,0 1 0,-1-1 0,1 1 0,0-1 0,0 1 0,0-1 0,0 1 0,0-1 0,0 1 0,0 0 0,0 0 0,0-1 0,0 1 0,0 0 0,0 0 0,0 0 0,0 0 0,0 0 0,0 0 0,0 0 0,0 1 0,0-1 0,0 0 0,0 1 0,0-1 0,0 0 0,0 1 0,1 0 0,0 1 0,0 0 0,0 0 0,0 1 0,-1-1 0,1 0 0,-1 1 0,1-1 0,-1 1 0,0-1 0,0 1 0,1 3 0,2 9 0,0 0 0,2 31 0,-3 36 0,-15 161 0,1-81 0,14-131 0,1-27 0,1-19 0,4-49 0,-6 43 0,0-1 0,1 0 0,1 1 0,0 0 0,2 0 0,1 1 0,11-23 0,-3 18 0,1 0 0,39-44 0,-46 56 0,-6 9 0,-1-1 0,1 1 0,0-1 0,0 1 0,0 0 0,6-4 0,-9 8 0,0-1 0,0 1 0,0 0 0,0-1 0,0 1 0,0 0 0,0 0 0,0-1 0,0 1 0,0 0 0,0 0 0,0 0 0,0 0 0,0 1 0,0-1 0,0 0 0,0 0 0,0 1 0,0-1 0,0 0 0,0 1 0,0-1 0,0 1 0,0-1 0,0 1 0,-1-1 0,1 1 0,0 0 0,0 0 0,-1-1 0,1 1 0,0 0 0,-1 0 0,1 0 0,-1 0 0,1-1 0,-1 1 0,1 0 0,-1 0 0,0 0 0,1 2 0,6 19 0,0-1 0,-2 2 0,0-1 0,-1 0 0,0 43 0,-3 54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54:58.6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24575,'50'2'0,"58"11"0,47 1 0,-132-12 0,0 0 0,31 8 0,-30-5 0,48 4 0,-32-6 0,41 8 0,-43-5 0,57 2 0,-85-7 0,1-1 0,-1-1 0,1 0 0,-1 0 0,1-1 0,-1 0 0,0-1 0,0 0 0,0-1 0,17-8 0,-13 5 0,-1 2 0,1 0 0,1 0 0,-1 1 0,1 1 0,-1 1 0,1 0 0,0 1 0,0 0 0,26 3 0,-13 1 0,0 1 0,-1 1 0,1 2 0,45 17 0,-40-14 291,-25-8-622,0 1 0,0-1-1,0 2 1,10 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3BE92-2836-2377-AC03-A2DE9BD92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BC9794-528F-622F-43DD-4480761AC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0C919C-92B7-D9DB-548B-F07A4AA3A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46616-91E6-EEB7-1856-D004D3BB5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527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EE8AE-6B96-A0B7-5B01-1E66F7091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6B1102-F4C9-B3F6-1EBC-67E21A0E1F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509EEB-322A-5BF0-4BAB-89D92C041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D25FF-334B-A586-E002-BDB8BEB75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4716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546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A661C-EE8E-4550-79FC-6D2DE6283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A3BE65-ABC2-C31E-F7BF-5074E255A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E0FA71-42DC-F866-0B0B-A1E7E3AEB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4EB81-AFC1-22F2-9431-A4C105BD9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938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A6B61-674B-0ABF-F5C3-A72BF284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FBED0-DE41-A040-921A-D95B5185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3F754-664A-ECDE-8199-65800D976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F3E54-5ADF-52CC-11B5-B7F7837DE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296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504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65174" y="2204864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22061" y="2367609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Mini Project  ·  2nd Year  ·  2025–26  ·  Team Id: 26E2109 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1414310" y="1372508"/>
            <a:ext cx="66082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IN" sz="2800" b="1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THRYLOS – Employee Management Portal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Industry Mentor: Mr. Utsav   </a:t>
            </a:r>
            <a:b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</a:b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 </a:t>
            </a: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Mr</a:t>
            </a: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. Suman Kumar Das</a:t>
            </a:r>
          </a:p>
          <a:p>
            <a:pPr lvl="0">
              <a:buSzPct val="25000"/>
            </a:pP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</a:t>
            </a:r>
          </a:p>
        </p:txBody>
      </p:sp>
      <p:sp>
        <p:nvSpPr>
          <p:cNvPr id="2001" name="R2001"/>
          <p:cNvSpPr>
            <a:spLocks noGrp="1"/>
          </p:cNvSpPr>
          <p:nvPr/>
        </p:nvSpPr>
        <p:spPr>
          <a:xfrm>
            <a:off x="196000" y="3150000"/>
            <a:ext cx="4336000" cy="280000"/>
          </a:xfrm>
          <a:prstGeom prst="rect">
            <a:avLst/>
          </a:prstGeom>
          <a:solidFill>
            <a:srgbClr val="0060A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02" name="T2002"/>
          <p:cNvSpPr txBox="1"/>
          <p:nvPr/>
        </p:nvSpPr>
        <p:spPr>
          <a:xfrm>
            <a:off x="196000" y="3150000"/>
            <a:ext cx="4336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algn="ctr" fontAlgn="base">
              <a:lnSpc>
                <a:spcPts val="14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100" b="1" kern="100" dirty="0">
                <a:solidFill>
                  <a:srgbClr val="FFFFFF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ROLL NO.  ·  NAME  ·  ROLE</a:t>
            </a:r>
          </a:p>
        </p:txBody>
      </p:sp>
      <p:sp>
        <p:nvSpPr>
          <p:cNvPr id="2003" name="R2003"/>
          <p:cNvSpPr>
            <a:spLocks noGrp="1"/>
          </p:cNvSpPr>
          <p:nvPr/>
        </p:nvSpPr>
        <p:spPr>
          <a:xfrm>
            <a:off x="4612000" y="3150000"/>
            <a:ext cx="4336000" cy="2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04" name="T2004"/>
          <p:cNvSpPr txBox="1"/>
          <p:nvPr/>
        </p:nvSpPr>
        <p:spPr>
          <a:xfrm>
            <a:off x="4612000" y="3150000"/>
            <a:ext cx="4336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algn="ctr" fontAlgn="base">
              <a:lnSpc>
                <a:spcPts val="14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100" b="1" kern="100" dirty="0">
                <a:solidFill>
                  <a:srgbClr val="FFFFFF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ROLL NO.  ·  NAME  ·  ROLE</a:t>
            </a:r>
          </a:p>
        </p:txBody>
      </p:sp>
      <p:sp>
        <p:nvSpPr>
          <p:cNvPr id="2005" name="R2005"/>
          <p:cNvSpPr>
            <a:spLocks noGrp="1"/>
          </p:cNvSpPr>
          <p:nvPr/>
        </p:nvSpPr>
        <p:spPr>
          <a:xfrm>
            <a:off x="196000" y="3430000"/>
            <a:ext cx="4336000" cy="400000"/>
          </a:xfrm>
          <a:prstGeom prst="rect">
            <a:avLst/>
          </a:prstGeom>
          <a:solidFill>
            <a:srgbClr val="EBF4FF"/>
          </a:solidFill>
          <a:ln w="6350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06" name="R2006"/>
          <p:cNvSpPr>
            <a:spLocks noGrp="1"/>
          </p:cNvSpPr>
          <p:nvPr/>
        </p:nvSpPr>
        <p:spPr>
          <a:xfrm>
            <a:off x="196000" y="3430000"/>
            <a:ext cx="42000" cy="400000"/>
          </a:xfrm>
          <a:prstGeom prst="rect">
            <a:avLst/>
          </a:prstGeom>
          <a:solidFill>
            <a:srgbClr val="0060A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07" name="T2007"/>
          <p:cNvSpPr txBox="1"/>
          <p:nvPr/>
        </p:nvSpPr>
        <p:spPr>
          <a:xfrm>
            <a:off x="256000" y="3392434"/>
            <a:ext cx="4226000" cy="4331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fontAlgn="base">
              <a:lnSpc>
                <a:spcPts val="1400"/>
              </a:lnSpc>
              <a:spcBef>
                <a:spcPts val="35"/>
              </a:spcBef>
            </a:pPr>
            <a:r>
              <a:rPr lang="en-US" sz="1000" b="1" kern="100" dirty="0">
                <a:solidFill>
                  <a:srgbClr val="0060AA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Ishan Jha </a:t>
            </a:r>
            <a:r>
              <a:rPr lang="en-US" sz="950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2401010022</a:t>
            </a:r>
          </a:p>
          <a:p>
            <a:pPr marL="0" marR="0" algn="l" fontAlgn="base">
              <a:lnSpc>
                <a:spcPts val="14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1000" kern="100" dirty="0">
                <a:solidFill>
                  <a:srgbClr val="4A556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(Team Leader)  ·  AI/ML  ·  Full Stack</a:t>
            </a:r>
          </a:p>
        </p:txBody>
      </p:sp>
      <p:sp>
        <p:nvSpPr>
          <p:cNvPr id="2008" name="R2008"/>
          <p:cNvSpPr>
            <a:spLocks noGrp="1"/>
          </p:cNvSpPr>
          <p:nvPr/>
        </p:nvSpPr>
        <p:spPr>
          <a:xfrm>
            <a:off x="196000" y="3830000"/>
            <a:ext cx="4336000" cy="400000"/>
          </a:xfrm>
          <a:prstGeom prst="rect">
            <a:avLst/>
          </a:prstGeom>
          <a:solidFill>
            <a:srgbClr val="F0F7FF"/>
          </a:solidFill>
          <a:ln w="6350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09" name="R2009"/>
          <p:cNvSpPr>
            <a:spLocks noGrp="1"/>
          </p:cNvSpPr>
          <p:nvPr/>
        </p:nvSpPr>
        <p:spPr>
          <a:xfrm>
            <a:off x="196000" y="3830000"/>
            <a:ext cx="42000" cy="40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10" name="T2010"/>
          <p:cNvSpPr txBox="1"/>
          <p:nvPr/>
        </p:nvSpPr>
        <p:spPr>
          <a:xfrm>
            <a:off x="256000" y="3818434"/>
            <a:ext cx="4226000" cy="4331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fontAlgn="base">
              <a:lnSpc>
                <a:spcPts val="1400"/>
              </a:lnSpc>
              <a:spcBef>
                <a:spcPts val="35"/>
              </a:spcBef>
            </a:pPr>
            <a:r>
              <a:rPr lang="en-US" sz="1000" b="1" kern="100" dirty="0">
                <a:solidFill>
                  <a:srgbClr val="003366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Utsav Ratan </a:t>
            </a:r>
            <a:r>
              <a:rPr lang="en-US" sz="950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2401010046</a:t>
            </a:r>
          </a:p>
          <a:p>
            <a:pPr marL="0" marR="0" algn="l" fontAlgn="base">
              <a:lnSpc>
                <a:spcPts val="14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1000" kern="100" dirty="0">
                <a:solidFill>
                  <a:srgbClr val="4A556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Front End Developer</a:t>
            </a:r>
          </a:p>
        </p:txBody>
      </p:sp>
      <p:sp>
        <p:nvSpPr>
          <p:cNvPr id="2011" name="R2011"/>
          <p:cNvSpPr>
            <a:spLocks noGrp="1"/>
          </p:cNvSpPr>
          <p:nvPr/>
        </p:nvSpPr>
        <p:spPr>
          <a:xfrm>
            <a:off x="196000" y="4230000"/>
            <a:ext cx="4336000" cy="400000"/>
          </a:xfrm>
          <a:prstGeom prst="rect">
            <a:avLst/>
          </a:prstGeom>
          <a:solidFill>
            <a:srgbClr val="EBF4FF"/>
          </a:solidFill>
          <a:ln w="6350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12" name="R2012"/>
          <p:cNvSpPr>
            <a:spLocks noGrp="1"/>
          </p:cNvSpPr>
          <p:nvPr/>
        </p:nvSpPr>
        <p:spPr>
          <a:xfrm>
            <a:off x="196000" y="4230000"/>
            <a:ext cx="42000" cy="40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13" name="T2013"/>
          <p:cNvSpPr txBox="1"/>
          <p:nvPr/>
        </p:nvSpPr>
        <p:spPr>
          <a:xfrm>
            <a:off x="256000" y="4241566"/>
            <a:ext cx="4226000" cy="4331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fontAlgn="base">
              <a:lnSpc>
                <a:spcPts val="1400"/>
              </a:lnSpc>
              <a:spcBef>
                <a:spcPts val="35"/>
              </a:spcBef>
            </a:pPr>
            <a:r>
              <a:rPr lang="en-US" sz="1000" b="1" kern="100" dirty="0">
                <a:solidFill>
                  <a:srgbClr val="003366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Prem Kumar </a:t>
            </a:r>
            <a:r>
              <a:rPr lang="en-US" sz="950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2401010243</a:t>
            </a:r>
          </a:p>
          <a:p>
            <a:pPr marL="0" marR="0" algn="l" fontAlgn="base">
              <a:lnSpc>
                <a:spcPts val="14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1000" kern="100" dirty="0">
                <a:solidFill>
                  <a:srgbClr val="4A556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Front End Developer</a:t>
            </a:r>
          </a:p>
        </p:txBody>
      </p:sp>
      <p:sp>
        <p:nvSpPr>
          <p:cNvPr id="2014" name="R2014"/>
          <p:cNvSpPr>
            <a:spLocks noGrp="1"/>
          </p:cNvSpPr>
          <p:nvPr/>
        </p:nvSpPr>
        <p:spPr>
          <a:xfrm>
            <a:off x="4612000" y="3430000"/>
            <a:ext cx="4336000" cy="400000"/>
          </a:xfrm>
          <a:prstGeom prst="rect">
            <a:avLst/>
          </a:prstGeom>
          <a:solidFill>
            <a:srgbClr val="EBF4FF"/>
          </a:solidFill>
          <a:ln w="6350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15" name="R2015"/>
          <p:cNvSpPr>
            <a:spLocks noGrp="1"/>
          </p:cNvSpPr>
          <p:nvPr/>
        </p:nvSpPr>
        <p:spPr>
          <a:xfrm>
            <a:off x="4612000" y="3430000"/>
            <a:ext cx="42000" cy="400000"/>
          </a:xfrm>
          <a:prstGeom prst="rect">
            <a:avLst/>
          </a:prstGeom>
          <a:solidFill>
            <a:srgbClr val="0097D4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16" name="T2016"/>
          <p:cNvSpPr txBox="1"/>
          <p:nvPr/>
        </p:nvSpPr>
        <p:spPr>
          <a:xfrm>
            <a:off x="4672000" y="3418434"/>
            <a:ext cx="4226000" cy="4331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fontAlgn="base">
              <a:lnSpc>
                <a:spcPts val="1400"/>
              </a:lnSpc>
              <a:spcBef>
                <a:spcPts val="35"/>
              </a:spcBef>
            </a:pPr>
            <a:r>
              <a:rPr lang="en-US" sz="1000" b="1" kern="100" dirty="0">
                <a:solidFill>
                  <a:srgbClr val="0097D4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Rashmi Jha </a:t>
            </a:r>
            <a:r>
              <a:rPr lang="en-US" sz="950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2401010166</a:t>
            </a:r>
          </a:p>
          <a:p>
            <a:pPr marL="0" marR="0" algn="l" fontAlgn="base">
              <a:lnSpc>
                <a:spcPts val="14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1000" kern="100" dirty="0">
                <a:solidFill>
                  <a:srgbClr val="4A556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UI / UX Designer</a:t>
            </a:r>
          </a:p>
        </p:txBody>
      </p:sp>
      <p:sp>
        <p:nvSpPr>
          <p:cNvPr id="2017" name="R2017"/>
          <p:cNvSpPr>
            <a:spLocks noGrp="1"/>
          </p:cNvSpPr>
          <p:nvPr/>
        </p:nvSpPr>
        <p:spPr>
          <a:xfrm>
            <a:off x="4612000" y="3830000"/>
            <a:ext cx="4336000" cy="400000"/>
          </a:xfrm>
          <a:prstGeom prst="rect">
            <a:avLst/>
          </a:prstGeom>
          <a:solidFill>
            <a:srgbClr val="F0F7FF"/>
          </a:solidFill>
          <a:ln w="6350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18" name="R2018"/>
          <p:cNvSpPr>
            <a:spLocks noGrp="1"/>
          </p:cNvSpPr>
          <p:nvPr/>
        </p:nvSpPr>
        <p:spPr>
          <a:xfrm>
            <a:off x="4612000" y="3830000"/>
            <a:ext cx="42000" cy="4000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19" name="T2019"/>
          <p:cNvSpPr txBox="1"/>
          <p:nvPr/>
        </p:nvSpPr>
        <p:spPr>
          <a:xfrm>
            <a:off x="4672000" y="3818434"/>
            <a:ext cx="4226000" cy="4331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fontAlgn="base">
              <a:lnSpc>
                <a:spcPts val="1400"/>
              </a:lnSpc>
              <a:spcBef>
                <a:spcPts val="35"/>
              </a:spcBef>
            </a:pPr>
            <a:r>
              <a:rPr lang="en-US" sz="1000" b="1" kern="100" dirty="0">
                <a:solidFill>
                  <a:srgbClr val="1A7A4A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Vivek Rai </a:t>
            </a:r>
            <a:r>
              <a:rPr lang="en-US" sz="950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2401010303</a:t>
            </a:r>
          </a:p>
          <a:p>
            <a:pPr marL="0" marR="0" algn="l" fontAlgn="base">
              <a:lnSpc>
                <a:spcPts val="14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1000" kern="100" dirty="0">
                <a:solidFill>
                  <a:srgbClr val="4A556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Backend Developer (DB)</a:t>
            </a:r>
          </a:p>
        </p:txBody>
      </p:sp>
      <p:sp>
        <p:nvSpPr>
          <p:cNvPr id="2020" name="R2020"/>
          <p:cNvSpPr>
            <a:spLocks noGrp="1"/>
          </p:cNvSpPr>
          <p:nvPr/>
        </p:nvSpPr>
        <p:spPr>
          <a:xfrm>
            <a:off x="4612000" y="4230000"/>
            <a:ext cx="4336000" cy="400000"/>
          </a:xfrm>
          <a:prstGeom prst="rect">
            <a:avLst/>
          </a:prstGeom>
          <a:solidFill>
            <a:srgbClr val="EBF4FF"/>
          </a:solidFill>
          <a:ln w="6350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21" name="R2021"/>
          <p:cNvSpPr>
            <a:spLocks noGrp="1"/>
          </p:cNvSpPr>
          <p:nvPr/>
        </p:nvSpPr>
        <p:spPr>
          <a:xfrm>
            <a:off x="4612000" y="4230000"/>
            <a:ext cx="42000" cy="4000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22" name="T2022"/>
          <p:cNvSpPr txBox="1"/>
          <p:nvPr/>
        </p:nvSpPr>
        <p:spPr>
          <a:xfrm>
            <a:off x="4672000" y="4218434"/>
            <a:ext cx="4226000" cy="4331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fontAlgn="base">
              <a:lnSpc>
                <a:spcPts val="1400"/>
              </a:lnSpc>
              <a:spcBef>
                <a:spcPts val="35"/>
              </a:spcBef>
            </a:pPr>
            <a:r>
              <a:rPr lang="en-US" sz="1000" b="1" kern="100" dirty="0">
                <a:solidFill>
                  <a:srgbClr val="1A7A4A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Vicky Jha </a:t>
            </a:r>
            <a:r>
              <a:rPr lang="en-US" sz="950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2401010248</a:t>
            </a:r>
          </a:p>
          <a:p>
            <a:pPr marL="0" marR="0" algn="l" fontAlgn="base">
              <a:lnSpc>
                <a:spcPts val="14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1000" kern="100" dirty="0">
                <a:solidFill>
                  <a:srgbClr val="4A556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Backend Developer</a:t>
            </a: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1537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01" name="R301"/>
          <p:cNvSpPr>
            <a:spLocks noGrp="1"/>
          </p:cNvSpPr>
          <p:nvPr/>
        </p:nvSpPr>
        <p:spPr>
          <a:xfrm>
            <a:off x="196000" y="1320000"/>
            <a:ext cx="4331000" cy="300000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02" name="R302"/>
          <p:cNvSpPr>
            <a:spLocks noGrp="1"/>
          </p:cNvSpPr>
          <p:nvPr/>
        </p:nvSpPr>
        <p:spPr>
          <a:xfrm>
            <a:off x="196000" y="1320000"/>
            <a:ext cx="40000" cy="3000000"/>
          </a:xfrm>
          <a:prstGeom prst="rect">
            <a:avLst/>
          </a:prstGeom>
          <a:solidFill>
            <a:srgbClr val="0060A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03" name="T303"/>
          <p:cNvSpPr txBox="1"/>
          <p:nvPr/>
        </p:nvSpPr>
        <p:spPr>
          <a:xfrm>
            <a:off x="254000" y="1375000"/>
            <a:ext cx="4228000" cy="4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marR="0" algn="l" fontAlgn="base">
              <a:lnSpc>
                <a:spcPts val="17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4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What is THRYLOS?</a:t>
            </a:r>
          </a:p>
          <a:p>
            <a:pPr marL="320000" marR="0" algn="l" fontAlgn="base">
              <a:lnSpc>
                <a:spcPts val="1500"/>
              </a:lnSpc>
              <a:spcBef>
                <a:spcPts val="65"/>
              </a:spcBef>
              <a:spcAft>
                <a:spcPts val="0"/>
              </a:spcAft>
              <a:buChar char="▸"/>
            </a:pPr>
            <a:r>
              <a:rPr lang="en-US" sz="110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Production-grade internal admin portal for a full-scale esports &amp; digital ops company in India.</a:t>
            </a:r>
          </a:p>
          <a:p>
            <a:pPr marL="320000" marR="0" algn="l" fontAlgn="base">
              <a:lnSpc>
                <a:spcPts val="1500"/>
              </a:lnSpc>
              <a:spcBef>
                <a:spcPts val="65"/>
              </a:spcBef>
              <a:spcAft>
                <a:spcPts val="0"/>
              </a:spcAft>
              <a:buChar char="▸"/>
            </a:pPr>
            <a:r>
              <a:rPr lang="en-US" sz="110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Live at admin.thrylos.in — fully operational, not a prototype.</a:t>
            </a:r>
          </a:p>
          <a:p>
            <a:pPr marL="320000" marR="0" algn="l" fontAlgn="base">
              <a:lnSpc>
                <a:spcPts val="1500"/>
              </a:lnSpc>
              <a:spcBef>
                <a:spcPts val="65"/>
              </a:spcBef>
              <a:spcAft>
                <a:spcPts val="0"/>
              </a:spcAft>
              <a:buChar char="▸"/>
            </a:pPr>
            <a:r>
              <a:rPr lang="en-US" sz="110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28+ modules manually administered: HR, attendance, payroll, chat, audit logs, analytics &amp; payments.</a:t>
            </a:r>
          </a:p>
        </p:txBody>
      </p:sp>
      <p:sp>
        <p:nvSpPr>
          <p:cNvPr id="304" name="R304"/>
          <p:cNvSpPr>
            <a:spLocks noGrp="1"/>
          </p:cNvSpPr>
          <p:nvPr/>
        </p:nvSpPr>
        <p:spPr>
          <a:xfrm>
            <a:off x="196000" y="3030000"/>
            <a:ext cx="4331000" cy="300000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05" name="R305"/>
          <p:cNvSpPr>
            <a:spLocks noGrp="1"/>
          </p:cNvSpPr>
          <p:nvPr/>
        </p:nvSpPr>
        <p:spPr>
          <a:xfrm>
            <a:off x="196000" y="3030000"/>
            <a:ext cx="40000" cy="3000000"/>
          </a:xfrm>
          <a:prstGeom prst="rect">
            <a:avLst/>
          </a:prstGeom>
          <a:solidFill>
            <a:srgbClr val="0060A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06" name="T306"/>
          <p:cNvSpPr txBox="1"/>
          <p:nvPr/>
        </p:nvSpPr>
        <p:spPr>
          <a:xfrm>
            <a:off x="254000" y="3085000"/>
            <a:ext cx="4228000" cy="3423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marR="0" algn="l" fontAlgn="base">
              <a:lnSpc>
                <a:spcPts val="17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4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Platform at a Glance</a:t>
            </a:r>
          </a:p>
          <a:p>
            <a:pPr marL="0" algn="l" fontAlgn="base">
              <a:lnSpc>
                <a:spcPts val="14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Live Portal: </a:t>
            </a:r>
            <a:r>
              <a:rPr lang="en-US" sz="11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admin.thrylos.in</a:t>
            </a:r>
          </a:p>
          <a:p>
            <a:pPr marL="0" algn="l" fontAlgn="base">
              <a:lnSpc>
                <a:spcPts val="14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Backend: </a:t>
            </a:r>
            <a:r>
              <a:rPr lang="en-US" sz="1100" b="1" kern="100" dirty="0">
                <a:solidFill>
                  <a:srgbClr val="00336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Supabase (PostgreSQL + Auth + Realtime + Edge)</a:t>
            </a:r>
          </a:p>
          <a:p>
            <a:pPr marL="0" algn="l" fontAlgn="base">
              <a:lnSpc>
                <a:spcPts val="14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Frontend: </a:t>
            </a:r>
            <a:r>
              <a:rPr lang="en-US" sz="1100" b="1" kern="100" dirty="0">
                <a:solidFill>
                  <a:srgbClr val="00336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React 18 + TypeScript 5 + Tailwind CSS 3.4</a:t>
            </a:r>
          </a:p>
          <a:p>
            <a:pPr marL="0" algn="l" fontAlgn="base">
              <a:lnSpc>
                <a:spcPts val="14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Hosting: </a:t>
            </a:r>
            <a:r>
              <a:rPr lang="en-US" sz="1100" b="1" kern="100" dirty="0">
                <a:solidFill>
                  <a:srgbClr val="00336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Netlify CI/CD   ·   Domains: GoDaddy</a:t>
            </a:r>
          </a:p>
          <a:p>
            <a:pPr marL="0" algn="l" fontAlgn="base">
              <a:lnSpc>
                <a:spcPts val="14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Status: </a:t>
            </a:r>
            <a:r>
              <a:rPr lang="en-US" sz="1100" b="1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LIVE — MSME / UDYAM Registered</a:t>
            </a:r>
          </a:p>
        </p:txBody>
      </p:sp>
      <p:sp>
        <p:nvSpPr>
          <p:cNvPr id="307" name="R307"/>
          <p:cNvSpPr>
            <a:spLocks noGrp="1"/>
          </p:cNvSpPr>
          <p:nvPr/>
        </p:nvSpPr>
        <p:spPr>
          <a:xfrm>
            <a:off x="247500" y="4645000"/>
            <a:ext cx="4279500" cy="1662614"/>
          </a:xfrm>
          <a:prstGeom prst="rect">
            <a:avLst/>
          </a:prstGeom>
          <a:solidFill>
            <a:srgbClr val="EDFAF3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08" name="R308"/>
          <p:cNvSpPr>
            <a:spLocks noGrp="1"/>
          </p:cNvSpPr>
          <p:nvPr/>
        </p:nvSpPr>
        <p:spPr>
          <a:xfrm>
            <a:off x="195999" y="4590000"/>
            <a:ext cx="45719" cy="17650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09" name="T309"/>
          <p:cNvSpPr txBox="1"/>
          <p:nvPr/>
        </p:nvSpPr>
        <p:spPr>
          <a:xfrm>
            <a:off x="216000" y="4829100"/>
            <a:ext cx="4228000" cy="1863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marR="0" algn="l" fontAlgn="base">
              <a:lnSpc>
                <a:spcPts val="17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400" b="1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Skill-Games Only — Legal Compliance</a:t>
            </a:r>
          </a:p>
          <a:p>
            <a:pPr marL="320000" marR="0" algn="l" fontAlgn="base">
              <a:lnSpc>
                <a:spcPts val="1500"/>
              </a:lnSpc>
              <a:spcBef>
                <a:spcPts val="65"/>
              </a:spcBef>
              <a:spcAft>
                <a:spcPts val="0"/>
              </a:spcAft>
              <a:buChar char="▸"/>
            </a:pPr>
            <a:r>
              <a:rPr lang="en-US" sz="110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Compliant with Indian IT Act 2000 &amp; MSME guidelines. No gambling, no betting.</a:t>
            </a:r>
          </a:p>
          <a:p>
            <a:pPr marL="320000" marR="0" algn="l" fontAlgn="base">
              <a:lnSpc>
                <a:spcPts val="1500"/>
              </a:lnSpc>
              <a:spcBef>
                <a:spcPts val="65"/>
              </a:spcBef>
              <a:spcAft>
                <a:spcPts val="0"/>
              </a:spcAft>
              <a:buChar char="▸"/>
            </a:pPr>
            <a:r>
              <a:rPr lang="en-US" sz="110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Company domains: thrylos.in · thrylosindia.in · thrylosauth.in</a:t>
            </a:r>
          </a:p>
        </p:txBody>
      </p:sp>
      <p:sp>
        <p:nvSpPr>
          <p:cNvPr id="310" name="R310"/>
          <p:cNvSpPr>
            <a:spLocks noGrp="1"/>
          </p:cNvSpPr>
          <p:nvPr/>
        </p:nvSpPr>
        <p:spPr>
          <a:xfrm>
            <a:off x="4617000" y="1320000"/>
            <a:ext cx="2135500" cy="300000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11" name="R311"/>
          <p:cNvSpPr>
            <a:spLocks noGrp="1"/>
          </p:cNvSpPr>
          <p:nvPr/>
        </p:nvSpPr>
        <p:spPr>
          <a:xfrm>
            <a:off x="4617000" y="1320000"/>
            <a:ext cx="2135500" cy="32000"/>
          </a:xfrm>
          <a:prstGeom prst="rect">
            <a:avLst/>
          </a:prstGeom>
          <a:solidFill>
            <a:srgbClr val="0060A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12" name="T312"/>
          <p:cNvSpPr txBox="1"/>
          <p:nvPr/>
        </p:nvSpPr>
        <p:spPr>
          <a:xfrm>
            <a:off x="4749940" y="1401616"/>
            <a:ext cx="2043232" cy="465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ctr" fontAlgn="base">
              <a:lnSpc>
                <a:spcPts val="16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2200" b="1" kern="100" dirty="0">
                <a:solidFill>
                  <a:srgbClr val="0060AA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30</a:t>
            </a:r>
            <a:r>
              <a:rPr lang="en-US" sz="22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+</a:t>
            </a:r>
          </a:p>
          <a:p>
            <a:pPr marL="0" marR="0" algn="ctr" fontAlgn="base">
              <a:lnSpc>
                <a:spcPts val="15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900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Modules Built</a:t>
            </a:r>
          </a:p>
        </p:txBody>
      </p:sp>
      <p:sp>
        <p:nvSpPr>
          <p:cNvPr id="313" name="R313"/>
          <p:cNvSpPr>
            <a:spLocks noGrp="1"/>
          </p:cNvSpPr>
          <p:nvPr/>
        </p:nvSpPr>
        <p:spPr>
          <a:xfrm>
            <a:off x="6812500" y="1320000"/>
            <a:ext cx="2135500" cy="3000000"/>
          </a:xfrm>
          <a:prstGeom prst="rect">
            <a:avLst/>
          </a:prstGeom>
          <a:solidFill>
            <a:srgbClr val="EDFAF3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14" name="R314"/>
          <p:cNvSpPr>
            <a:spLocks noGrp="1"/>
          </p:cNvSpPr>
          <p:nvPr/>
        </p:nvSpPr>
        <p:spPr>
          <a:xfrm>
            <a:off x="6812500" y="1320000"/>
            <a:ext cx="2135500" cy="320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15" name="T315"/>
          <p:cNvSpPr txBox="1"/>
          <p:nvPr/>
        </p:nvSpPr>
        <p:spPr>
          <a:xfrm>
            <a:off x="6812500" y="1386042"/>
            <a:ext cx="2090500" cy="465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ctr" fontAlgn="base">
              <a:lnSpc>
                <a:spcPts val="16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2200" b="1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14</a:t>
            </a:r>
          </a:p>
          <a:p>
            <a:pPr marL="0" marR="0" algn="ctr" fontAlgn="base">
              <a:lnSpc>
                <a:spcPts val="15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900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Active Admins</a:t>
            </a:r>
          </a:p>
        </p:txBody>
      </p:sp>
      <p:sp>
        <p:nvSpPr>
          <p:cNvPr id="316" name="R316"/>
          <p:cNvSpPr>
            <a:spLocks noGrp="1"/>
          </p:cNvSpPr>
          <p:nvPr/>
        </p:nvSpPr>
        <p:spPr>
          <a:xfrm>
            <a:off x="4617000" y="1840000"/>
            <a:ext cx="2135500" cy="300000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17" name="R317"/>
          <p:cNvSpPr>
            <a:spLocks noGrp="1"/>
          </p:cNvSpPr>
          <p:nvPr/>
        </p:nvSpPr>
        <p:spPr>
          <a:xfrm>
            <a:off x="4617000" y="1840000"/>
            <a:ext cx="2135500" cy="32000"/>
          </a:xfrm>
          <a:prstGeom prst="rect">
            <a:avLst/>
          </a:prstGeom>
          <a:solidFill>
            <a:srgbClr val="0097D4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18" name="T318"/>
          <p:cNvSpPr txBox="1"/>
          <p:nvPr/>
        </p:nvSpPr>
        <p:spPr>
          <a:xfrm>
            <a:off x="4637336" y="1903134"/>
            <a:ext cx="2135500" cy="465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ctr" fontAlgn="base">
              <a:lnSpc>
                <a:spcPts val="16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2200" b="1" kern="100" dirty="0">
                <a:solidFill>
                  <a:srgbClr val="0097D4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25</a:t>
            </a:r>
            <a:endParaRPr lang="en-US" sz="2200" b="1" kern="100" dirty="0">
              <a:solidFill>
                <a:srgbClr val="0097D4"/>
              </a:solidFill>
              <a:effectLst/>
              <a:latin typeface="Verdana" pitchFamily="34" charset="0"/>
              <a:ea typeface="Calibri" pitchFamily="34" charset="0"/>
              <a:cs typeface="Calibri" pitchFamily="34" charset="0"/>
            </a:endParaRPr>
          </a:p>
          <a:p>
            <a:pPr marL="0" marR="0" algn="ctr" fontAlgn="base">
              <a:lnSpc>
                <a:spcPts val="15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900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Employees</a:t>
            </a:r>
          </a:p>
        </p:txBody>
      </p:sp>
      <p:sp>
        <p:nvSpPr>
          <p:cNvPr id="319" name="R319"/>
          <p:cNvSpPr>
            <a:spLocks noGrp="1"/>
          </p:cNvSpPr>
          <p:nvPr/>
        </p:nvSpPr>
        <p:spPr>
          <a:xfrm>
            <a:off x="6812500" y="1840000"/>
            <a:ext cx="2135500" cy="3000000"/>
          </a:xfrm>
          <a:prstGeom prst="rect">
            <a:avLst/>
          </a:prstGeom>
          <a:solidFill>
            <a:srgbClr val="FFF5F5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20" name="R320"/>
          <p:cNvSpPr>
            <a:spLocks noGrp="1"/>
          </p:cNvSpPr>
          <p:nvPr/>
        </p:nvSpPr>
        <p:spPr>
          <a:xfrm>
            <a:off x="6812500" y="1840000"/>
            <a:ext cx="2135500" cy="32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21" name="T321"/>
          <p:cNvSpPr txBox="1"/>
          <p:nvPr/>
        </p:nvSpPr>
        <p:spPr>
          <a:xfrm>
            <a:off x="6930500" y="1916696"/>
            <a:ext cx="2077500" cy="465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ctr" fontAlgn="base">
              <a:lnSpc>
                <a:spcPts val="16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2200" b="1" kern="100" dirty="0">
                <a:solidFill>
                  <a:srgbClr val="C00000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₹</a:t>
            </a:r>
            <a:r>
              <a:rPr lang="en-US" sz="2200" b="1" kern="100" dirty="0">
                <a:solidFill>
                  <a:srgbClr val="C00000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20,000+</a:t>
            </a:r>
            <a:endParaRPr lang="en-US" sz="2200" b="1" kern="100" dirty="0">
              <a:solidFill>
                <a:srgbClr val="C00000"/>
              </a:solidFill>
              <a:effectLst/>
              <a:latin typeface="Verdana" pitchFamily="34" charset="0"/>
              <a:ea typeface="Calibri" pitchFamily="34" charset="0"/>
              <a:cs typeface="Calibri" pitchFamily="34" charset="0"/>
            </a:endParaRPr>
          </a:p>
          <a:p>
            <a:pPr marL="0" marR="0" algn="ctr" fontAlgn="base">
              <a:lnSpc>
                <a:spcPts val="15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900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Revenue</a:t>
            </a:r>
          </a:p>
        </p:txBody>
      </p:sp>
      <p:sp>
        <p:nvSpPr>
          <p:cNvPr id="322" name="R322"/>
          <p:cNvSpPr>
            <a:spLocks noGrp="1"/>
          </p:cNvSpPr>
          <p:nvPr/>
        </p:nvSpPr>
        <p:spPr>
          <a:xfrm>
            <a:off x="4617000" y="2360000"/>
            <a:ext cx="4331000" cy="300000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23" name="R323"/>
          <p:cNvSpPr>
            <a:spLocks noGrp="1"/>
          </p:cNvSpPr>
          <p:nvPr/>
        </p:nvSpPr>
        <p:spPr>
          <a:xfrm>
            <a:off x="4617000" y="2360000"/>
            <a:ext cx="40000" cy="300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24" name="T324"/>
          <p:cNvSpPr txBox="1"/>
          <p:nvPr/>
        </p:nvSpPr>
        <p:spPr>
          <a:xfrm>
            <a:off x="4675000" y="2415000"/>
            <a:ext cx="4228000" cy="4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marR="0" algn="l" fontAlgn="base">
              <a:lnSpc>
                <a:spcPts val="17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400" b="1" kern="100" dirty="0">
                <a:solidFill>
                  <a:srgbClr val="00336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Tech Stack Highlights</a:t>
            </a:r>
          </a:p>
          <a:p>
            <a:pPr marL="0" algn="l" fontAlgn="base">
              <a:lnSpc>
                <a:spcPts val="14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Frontend: </a:t>
            </a:r>
            <a:r>
              <a:rPr lang="en-US" sz="11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React 18 + TypeScript 5 + Tailwind CSS 3.4</a:t>
            </a:r>
          </a:p>
          <a:p>
            <a:pPr marL="0" algn="l" fontAlgn="base">
              <a:lnSpc>
                <a:spcPts val="14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Backend: </a:t>
            </a:r>
            <a:r>
              <a:rPr lang="en-US" sz="11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Supabase (PostgreSQL + Auth + Realtime + Edge Functions)</a:t>
            </a:r>
          </a:p>
          <a:p>
            <a:pPr marL="0" algn="l" fontAlgn="base">
              <a:lnSpc>
                <a:spcPts val="14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Realtime: </a:t>
            </a:r>
            <a:r>
              <a:rPr lang="en-US" sz="11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Supabase WebSocket — chat, notifs, leaderboard</a:t>
            </a:r>
          </a:p>
          <a:p>
            <a:pPr marL="0" algn="l" fontAlgn="base">
              <a:lnSpc>
                <a:spcPts val="14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Email: </a:t>
            </a:r>
            <a:r>
              <a:rPr lang="en-US" sz="11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Brevo Transactional REST API via Edge Functions</a:t>
            </a:r>
          </a:p>
          <a:p>
            <a:pPr marL="0" algn="l" fontAlgn="base">
              <a:lnSpc>
                <a:spcPts val="14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Auth: </a:t>
            </a:r>
            <a:r>
              <a:rPr lang="en-US" sz="11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Zero-password OTP + Supabase JWT + RLS</a:t>
            </a:r>
          </a:p>
          <a:p>
            <a:pPr marL="0" algn="l" fontAlgn="base">
              <a:lnSpc>
                <a:spcPts val="14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Payments: </a:t>
            </a:r>
            <a:r>
              <a:rPr lang="en-US" sz="11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UPI QR + Manual Admin Verification</a:t>
            </a:r>
          </a:p>
          <a:p>
            <a:pPr marL="0" algn="l" fontAlgn="base">
              <a:lnSpc>
                <a:spcPts val="14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Hosting: </a:t>
            </a:r>
            <a:r>
              <a:rPr lang="en-US" sz="11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Netlify CI/CD + GoDaddy Domains</a:t>
            </a:r>
          </a:p>
          <a:p>
            <a:pPr marL="0" algn="l" fontAlgn="base">
              <a:lnSpc>
                <a:spcPts val="14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Registered: </a:t>
            </a:r>
            <a:r>
              <a:rPr lang="en-US" sz="1100" b="1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MSME / UDYAM — India</a:t>
            </a:r>
          </a:p>
        </p:txBody>
      </p:sp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543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401" name="R401"/>
          <p:cNvSpPr>
            <a:spLocks noGrp="1"/>
          </p:cNvSpPr>
          <p:nvPr/>
        </p:nvSpPr>
        <p:spPr>
          <a:xfrm>
            <a:off x="196000" y="1320000"/>
            <a:ext cx="4331000" cy="300000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02" name="R402"/>
          <p:cNvSpPr>
            <a:spLocks noGrp="1"/>
          </p:cNvSpPr>
          <p:nvPr/>
        </p:nvSpPr>
        <p:spPr>
          <a:xfrm>
            <a:off x="196000" y="1320000"/>
            <a:ext cx="40000" cy="3000000"/>
          </a:xfrm>
          <a:prstGeom prst="rect">
            <a:avLst/>
          </a:prstGeom>
          <a:solidFill>
            <a:srgbClr val="0060A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03" name="T403"/>
          <p:cNvSpPr txBox="1"/>
          <p:nvPr/>
        </p:nvSpPr>
        <p:spPr>
          <a:xfrm>
            <a:off x="254000" y="1375000"/>
            <a:ext cx="4228000" cy="4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marR="0" algn="l" fontAlgn="base">
              <a:lnSpc>
                <a:spcPts val="18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2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Core Objectives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Build a unified, role-based admin command centre for all esports company operations.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Eliminate manual HR workflows — digitise attendance, leave, payroll &amp; employee records.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Provide real-time visibility into team performance, work logs, social media analytics &amp; esports revenue.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Zero-password OTP auth pipeline with mandatory geolocation audit logging.</a:t>
            </a:r>
          </a:p>
        </p:txBody>
      </p:sp>
      <p:sp>
        <p:nvSpPr>
          <p:cNvPr id="404" name="R404"/>
          <p:cNvSpPr>
            <a:spLocks noGrp="1"/>
          </p:cNvSpPr>
          <p:nvPr/>
        </p:nvSpPr>
        <p:spPr>
          <a:xfrm>
            <a:off x="221872" y="3327224"/>
            <a:ext cx="4331000" cy="2352774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05" name="R405"/>
          <p:cNvSpPr>
            <a:spLocks noGrp="1"/>
          </p:cNvSpPr>
          <p:nvPr/>
        </p:nvSpPr>
        <p:spPr>
          <a:xfrm>
            <a:off x="196000" y="2680000"/>
            <a:ext cx="40000" cy="3000000"/>
          </a:xfrm>
          <a:prstGeom prst="rect">
            <a:avLst/>
          </a:prstGeom>
          <a:solidFill>
            <a:srgbClr val="0097D4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06" name="T406"/>
          <p:cNvSpPr txBox="1"/>
          <p:nvPr/>
        </p:nvSpPr>
        <p:spPr>
          <a:xfrm>
            <a:off x="324024" y="3391464"/>
            <a:ext cx="4228000" cy="228853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marR="0" algn="l" fontAlgn="base">
              <a:lnSpc>
                <a:spcPts val="18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200" b="1" kern="100" dirty="0">
                <a:solidFill>
                  <a:srgbClr val="0097D4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Technical Objectives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Deliver 28+ fully functional modules under a single authenticated portal with role-based access.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Supabase Row-Level Security (RLS) — data segregation across Super Admin, HR Admin &amp; All-Users roles.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Transactional emails (OTP, certificates, receipts) via Brevo API through Supabase Edge Functions.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Live data sync via Supabase Realtime WebSocket — chat, notifications, leaderboards &amp; task boards.</a:t>
            </a:r>
          </a:p>
        </p:txBody>
      </p:sp>
      <p:sp>
        <p:nvSpPr>
          <p:cNvPr id="407" name="R407"/>
          <p:cNvSpPr>
            <a:spLocks noGrp="1"/>
          </p:cNvSpPr>
          <p:nvPr/>
        </p:nvSpPr>
        <p:spPr>
          <a:xfrm>
            <a:off x="4617000" y="1320000"/>
            <a:ext cx="4331000" cy="300000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08" name="R408"/>
          <p:cNvSpPr>
            <a:spLocks noGrp="1"/>
          </p:cNvSpPr>
          <p:nvPr/>
        </p:nvSpPr>
        <p:spPr>
          <a:xfrm>
            <a:off x="4617000" y="1320000"/>
            <a:ext cx="40000" cy="300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09" name="T409"/>
          <p:cNvSpPr txBox="1"/>
          <p:nvPr/>
        </p:nvSpPr>
        <p:spPr>
          <a:xfrm>
            <a:off x="4675000" y="1375000"/>
            <a:ext cx="4228000" cy="4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marR="0" algn="l" fontAlgn="base">
              <a:lnSpc>
                <a:spcPts val="18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200" b="1" kern="100" dirty="0">
                <a:solidFill>
                  <a:srgbClr val="00336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30+ Modules Across 4 Access Tiers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00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All Users: </a:t>
            </a:r>
            <a:r>
              <a:rPr lang="en-US" sz="1000" b="1" kern="100" dirty="0">
                <a:solidFill>
                  <a:srgbClr val="0060AA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7</a:t>
            </a:r>
            <a:r>
              <a:rPr lang="en-US" sz="10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 modules — attend., tasks, chat, leave, directory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00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Super Admin: </a:t>
            </a:r>
            <a:r>
              <a:rPr lang="en-US" sz="1000" b="1" kern="100" dirty="0">
                <a:solidFill>
                  <a:srgbClr val="C00000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13 modules — certs, audit, career apps, reports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00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HR Admin: </a:t>
            </a:r>
            <a:r>
              <a:rPr lang="en-US" sz="1000" b="1" kern="100" dirty="0">
                <a:solidFill>
                  <a:srgbClr val="1A7A4A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4</a:t>
            </a:r>
            <a:r>
              <a:rPr lang="en-US" sz="1000" b="1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 modules — HR dashboard + employee mgmt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00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Realtime: </a:t>
            </a:r>
            <a:r>
              <a:rPr lang="en-US" sz="1000" b="1" kern="100" dirty="0">
                <a:solidFill>
                  <a:srgbClr val="0097D4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8</a:t>
            </a:r>
            <a:r>
              <a:rPr lang="en-US" sz="1000" b="1" kern="100" dirty="0">
                <a:solidFill>
                  <a:srgbClr val="0097D4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 modules — chat, notifs, polls, perf scores</a:t>
            </a:r>
          </a:p>
        </p:txBody>
      </p:sp>
      <p:sp>
        <p:nvSpPr>
          <p:cNvPr id="410" name="R410"/>
          <p:cNvSpPr>
            <a:spLocks noGrp="1"/>
          </p:cNvSpPr>
          <p:nvPr/>
        </p:nvSpPr>
        <p:spPr>
          <a:xfrm>
            <a:off x="4624952" y="3079076"/>
            <a:ext cx="4331000" cy="3000000"/>
          </a:xfrm>
          <a:prstGeom prst="rect">
            <a:avLst/>
          </a:prstGeom>
          <a:solidFill>
            <a:srgbClr val="EDFAF3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11" name="R411"/>
          <p:cNvSpPr>
            <a:spLocks noGrp="1"/>
          </p:cNvSpPr>
          <p:nvPr/>
        </p:nvSpPr>
        <p:spPr>
          <a:xfrm>
            <a:off x="4617000" y="2180000"/>
            <a:ext cx="40000" cy="30000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12" name="T412"/>
          <p:cNvSpPr txBox="1"/>
          <p:nvPr/>
        </p:nvSpPr>
        <p:spPr>
          <a:xfrm>
            <a:off x="4663992" y="3059352"/>
            <a:ext cx="4228000" cy="4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marR="0" algn="l" fontAlgn="base">
              <a:lnSpc>
                <a:spcPts val="18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200" b="1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Project Stage Tracker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00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Stage 1 — Core Auth: </a:t>
            </a:r>
            <a:r>
              <a:rPr lang="en-US" sz="1000" b="1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100%  ✅  Complete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00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Stage 2 — Feature Modules: </a:t>
            </a:r>
            <a:r>
              <a:rPr lang="en-US" sz="1000" b="1" kern="100" dirty="0">
                <a:solidFill>
                  <a:srgbClr val="8B6914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68%  🔄  In Progress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00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Stage 3 — Integration: </a:t>
            </a:r>
            <a:r>
              <a:rPr lang="en-US" sz="1000" b="1" kern="100" dirty="0">
                <a:solidFill>
                  <a:srgbClr val="8B6914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50</a:t>
            </a:r>
            <a:r>
              <a:rPr lang="en-US" sz="1000" b="1" kern="100" dirty="0">
                <a:solidFill>
                  <a:srgbClr val="8B6914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%  🔄  In Progress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00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Stage 4 — Deployment: </a:t>
            </a:r>
            <a:r>
              <a:rPr lang="en-US" sz="1000" b="1" kern="100" dirty="0">
                <a:solidFill>
                  <a:srgbClr val="718096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50</a:t>
            </a:r>
            <a:r>
              <a:rPr lang="en-US" sz="100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%  📋  Complete</a:t>
            </a:r>
          </a:p>
        </p:txBody>
      </p:sp>
      <p:sp>
        <p:nvSpPr>
          <p:cNvPr id="414" name="R414"/>
          <p:cNvSpPr>
            <a:spLocks noGrp="1"/>
          </p:cNvSpPr>
          <p:nvPr/>
        </p:nvSpPr>
        <p:spPr>
          <a:xfrm>
            <a:off x="4617000" y="3645024"/>
            <a:ext cx="40000" cy="300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R407">
            <a:extLst>
              <a:ext uri="{FF2B5EF4-FFF2-40B4-BE49-F238E27FC236}">
                <a16:creationId xmlns:a16="http://schemas.microsoft.com/office/drawing/2014/main" id="{DF64B894-6132-3DF1-CEDC-22F1B47DDD22}"/>
              </a:ext>
            </a:extLst>
          </p:cNvPr>
          <p:cNvSpPr>
            <a:spLocks noGrp="1"/>
          </p:cNvSpPr>
          <p:nvPr/>
        </p:nvSpPr>
        <p:spPr>
          <a:xfrm>
            <a:off x="4649976" y="4325425"/>
            <a:ext cx="4298024" cy="2309575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415">
            <a:extLst>
              <a:ext uri="{FF2B5EF4-FFF2-40B4-BE49-F238E27FC236}">
                <a16:creationId xmlns:a16="http://schemas.microsoft.com/office/drawing/2014/main" id="{58F15653-454E-ED18-43BC-0A1DAFBA4A5B}"/>
              </a:ext>
            </a:extLst>
          </p:cNvPr>
          <p:cNvSpPr txBox="1"/>
          <p:nvPr/>
        </p:nvSpPr>
        <p:spPr>
          <a:xfrm>
            <a:off x="4392999" y="4298563"/>
            <a:ext cx="4678993" cy="2306937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0" marR="0" algn="l" fontAlgn="base">
              <a:lnSpc>
                <a:spcPts val="18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200" b="1" kern="100" dirty="0">
                <a:solidFill>
                  <a:srgbClr val="00336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    Key Deliverables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0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Unified admin portal replacing 10+ disconnected manual tools.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0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Zero-password authentication with geolocation audit for every login.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0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Realtime WebSocket chat &amp; notifications — 13 admins online simultaneously.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0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CSV/PDF exports for employees, attendance, payments &amp; esports data.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0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Legal compliance: Privacy Policy, ToS, Refund, Responsible Gaming Policy.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0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28+ live modules with role-based access &amp; full audit trail.</a:t>
            </a:r>
          </a:p>
        </p:txBody>
      </p:sp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" name="R501"/>
          <p:cNvSpPr>
            <a:spLocks noGrp="1"/>
          </p:cNvSpPr>
          <p:nvPr/>
        </p:nvSpPr>
        <p:spPr>
          <a:xfrm>
            <a:off x="196000" y="1320000"/>
            <a:ext cx="2870666" cy="280000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02" name="R502"/>
          <p:cNvSpPr>
            <a:spLocks noGrp="1"/>
          </p:cNvSpPr>
          <p:nvPr/>
        </p:nvSpPr>
        <p:spPr>
          <a:xfrm>
            <a:off x="196000" y="1320000"/>
            <a:ext cx="40000" cy="2800000"/>
          </a:xfrm>
          <a:prstGeom prst="rect">
            <a:avLst/>
          </a:prstGeom>
          <a:solidFill>
            <a:srgbClr val="0060A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03" name="T503"/>
          <p:cNvSpPr txBox="1"/>
          <p:nvPr/>
        </p:nvSpPr>
        <p:spPr>
          <a:xfrm>
            <a:off x="254000" y="1375000"/>
            <a:ext cx="2767666" cy="2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marR="0" algn="l" fontAlgn="base">
              <a:lnSpc>
                <a:spcPts val="18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5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Auth &amp; Security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Zero-password OTP login — 6-digit code via Brevo API, expires 5 min.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Browser Geolocation captures Lat, Long, City &amp; IP at every login for audit.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Supabase JWT sessions with RLS on all database tables.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3 access roles: Super Admin · HR Admin · All Users.</a:t>
            </a:r>
          </a:p>
        </p:txBody>
      </p:sp>
      <p:sp>
        <p:nvSpPr>
          <p:cNvPr id="504" name="R504"/>
          <p:cNvSpPr>
            <a:spLocks noGrp="1"/>
          </p:cNvSpPr>
          <p:nvPr/>
        </p:nvSpPr>
        <p:spPr>
          <a:xfrm>
            <a:off x="3136666" y="1320000"/>
            <a:ext cx="2870666" cy="280000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05" name="R505"/>
          <p:cNvSpPr>
            <a:spLocks noGrp="1"/>
          </p:cNvSpPr>
          <p:nvPr/>
        </p:nvSpPr>
        <p:spPr>
          <a:xfrm>
            <a:off x="3136666" y="1320000"/>
            <a:ext cx="40000" cy="2800000"/>
          </a:xfrm>
          <a:prstGeom prst="rect">
            <a:avLst/>
          </a:prstGeom>
          <a:solidFill>
            <a:srgbClr val="0097D4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06" name="T506"/>
          <p:cNvSpPr txBox="1"/>
          <p:nvPr/>
        </p:nvSpPr>
        <p:spPr>
          <a:xfrm>
            <a:off x="3194666" y="1375000"/>
            <a:ext cx="2767666" cy="2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marR="0" algn="l" fontAlgn="base">
              <a:lnSpc>
                <a:spcPts val="18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500" b="1" kern="100" dirty="0">
                <a:solidFill>
                  <a:srgbClr val="0097D4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Core Operational Modules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Attendance Tracker (geo-verified) · Leave Management (approval flow).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Kanban Task Board (realtime) · Daily Standups · Team Events Calendar.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Real-Time WebSocket Team Chat with file upload — 13 users.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Certificate Manager with unique IDs · Internship Tracker.</a:t>
            </a:r>
          </a:p>
        </p:txBody>
      </p:sp>
      <p:sp>
        <p:nvSpPr>
          <p:cNvPr id="507" name="R507"/>
          <p:cNvSpPr>
            <a:spLocks noGrp="1"/>
          </p:cNvSpPr>
          <p:nvPr/>
        </p:nvSpPr>
        <p:spPr>
          <a:xfrm>
            <a:off x="6077332" y="1320000"/>
            <a:ext cx="2870666" cy="2800000"/>
          </a:xfrm>
          <a:prstGeom prst="rect">
            <a:avLst/>
          </a:prstGeom>
          <a:solidFill>
            <a:srgbClr val="FFF5F5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08" name="R508"/>
          <p:cNvSpPr>
            <a:spLocks noGrp="1"/>
          </p:cNvSpPr>
          <p:nvPr/>
        </p:nvSpPr>
        <p:spPr>
          <a:xfrm>
            <a:off x="6077332" y="1320000"/>
            <a:ext cx="40000" cy="280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09" name="T509"/>
          <p:cNvSpPr txBox="1"/>
          <p:nvPr/>
        </p:nvSpPr>
        <p:spPr>
          <a:xfrm>
            <a:off x="6135332" y="1375000"/>
            <a:ext cx="2767666" cy="2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marR="0" algn="l" fontAlgn="base">
              <a:lnSpc>
                <a:spcPts val="18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500" b="1" kern="100" dirty="0">
                <a:solidFill>
                  <a:srgbClr val="C00000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Analytics &amp; Finance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Esports Players: profiles, payment status, revenue (₹</a:t>
            </a:r>
            <a:r>
              <a:rPr lang="en-US" sz="1050" kern="100" dirty="0">
                <a:solidFill>
                  <a:srgbClr val="2D3748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20k</a:t>
            </a: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), CSV export.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Social Media Analytics: Instagram, YouTube, LinkedIn, X.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Tech Work Dashboard: 98 entries, 170.5h tracked.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UPI QR Payment Verification with manual admin approval.</a:t>
            </a:r>
          </a:p>
        </p:txBody>
      </p:sp>
      <p:sp>
        <p:nvSpPr>
          <p:cNvPr id="510" name="R510"/>
          <p:cNvSpPr>
            <a:spLocks noGrp="1"/>
          </p:cNvSpPr>
          <p:nvPr/>
        </p:nvSpPr>
        <p:spPr>
          <a:xfrm>
            <a:off x="196000" y="4180000"/>
            <a:ext cx="2870666" cy="2550000"/>
          </a:xfrm>
          <a:prstGeom prst="rect">
            <a:avLst/>
          </a:prstGeom>
          <a:solidFill>
            <a:srgbClr val="EDFAF3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11" name="R511"/>
          <p:cNvSpPr>
            <a:spLocks noGrp="1"/>
          </p:cNvSpPr>
          <p:nvPr/>
        </p:nvSpPr>
        <p:spPr>
          <a:xfrm>
            <a:off x="196000" y="4180000"/>
            <a:ext cx="40000" cy="25500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2" name="T512"/>
          <p:cNvSpPr txBox="1"/>
          <p:nvPr/>
        </p:nvSpPr>
        <p:spPr>
          <a:xfrm>
            <a:off x="254000" y="4235000"/>
            <a:ext cx="2767666" cy="24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marR="0" algn="l" fontAlgn="base">
              <a:lnSpc>
                <a:spcPts val="18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500" b="1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HR &amp; Admin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Employee Mgmt: 10 records, Aadhaar, PAN, offer letters, document vault.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Admin Management: 13 admins, role assignment, audit log.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Career Applications: resume viewer, Aadhaar, status workflow.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Bulk CSV/Excel upload with smart validation &amp; dedup check.</a:t>
            </a:r>
          </a:p>
        </p:txBody>
      </p:sp>
      <p:sp>
        <p:nvSpPr>
          <p:cNvPr id="513" name="R513"/>
          <p:cNvSpPr>
            <a:spLocks noGrp="1"/>
          </p:cNvSpPr>
          <p:nvPr/>
        </p:nvSpPr>
        <p:spPr>
          <a:xfrm>
            <a:off x="3136666" y="4180000"/>
            <a:ext cx="2870666" cy="255000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14" name="R514"/>
          <p:cNvSpPr>
            <a:spLocks noGrp="1"/>
          </p:cNvSpPr>
          <p:nvPr/>
        </p:nvSpPr>
        <p:spPr>
          <a:xfrm>
            <a:off x="3136666" y="4180000"/>
            <a:ext cx="40000" cy="2550000"/>
          </a:xfrm>
          <a:prstGeom prst="rect">
            <a:avLst/>
          </a:prstGeom>
          <a:solidFill>
            <a:srgbClr val="0097D4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5" name="T515"/>
          <p:cNvSpPr txBox="1"/>
          <p:nvPr/>
        </p:nvSpPr>
        <p:spPr>
          <a:xfrm>
            <a:off x="3194666" y="4235000"/>
            <a:ext cx="2767666" cy="24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marR="0" algn="l" fontAlgn="base">
              <a:lnSpc>
                <a:spcPts val="18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500" b="1" kern="100" dirty="0">
                <a:solidFill>
                  <a:srgbClr val="0097D4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Realtime &amp; Comms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WebSocket Team Chat · Notification Center (push, filter, DND).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Polls &amp; Surveys · Announcements · Meeting Notes.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Email Management: 15 emails/admin/day from @admin.thrylos.in.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Expense Claims · Birthday Reminders · Holiday Calendar.</a:t>
            </a:r>
          </a:p>
        </p:txBody>
      </p:sp>
      <p:sp>
        <p:nvSpPr>
          <p:cNvPr id="516" name="R516"/>
          <p:cNvSpPr>
            <a:spLocks noGrp="1"/>
          </p:cNvSpPr>
          <p:nvPr/>
        </p:nvSpPr>
        <p:spPr>
          <a:xfrm>
            <a:off x="6077332" y="4180000"/>
            <a:ext cx="2870666" cy="2550000"/>
          </a:xfrm>
          <a:prstGeom prst="rect">
            <a:avLst/>
          </a:prstGeom>
          <a:solidFill>
            <a:srgbClr val="FFFBEB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17" name="R517"/>
          <p:cNvSpPr>
            <a:spLocks noGrp="1"/>
          </p:cNvSpPr>
          <p:nvPr/>
        </p:nvSpPr>
        <p:spPr>
          <a:xfrm>
            <a:off x="6077332" y="4180000"/>
            <a:ext cx="40000" cy="255000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8" name="T518"/>
          <p:cNvSpPr txBox="1"/>
          <p:nvPr/>
        </p:nvSpPr>
        <p:spPr>
          <a:xfrm>
            <a:off x="6135332" y="4235000"/>
            <a:ext cx="2767666" cy="24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marR="0" algn="l" fontAlgn="base">
              <a:lnSpc>
                <a:spcPts val="18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500" b="1" kern="100" dirty="0">
                <a:solidFill>
                  <a:srgbClr val="8B6914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Files &amp; More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File &amp; Media Manager: 50GB, preview, secure share links.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Performance Scores auto-ranked from attendance + work logs.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Audit Logs: IP, ISP, location tracking for all admin actions.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Quick Notes (personal) · Company Links · Standup Logs.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0" y="6533061"/>
            <a:ext cx="2411760" cy="34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42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33F2B-4274-D144-7093-B867F4CB3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527858-67DE-3DF8-FF01-8DB1846AE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13692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2CBC630-DA86-8B5C-8CF1-BBD133225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44288"/>
            <a:ext cx="56886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Progress Summary</a:t>
            </a:r>
            <a:endParaRPr lang="en-IN" sz="32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FB5C432-E63F-6355-19A5-32B65372F4DD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6D3DC83-45E5-89A4-957B-69C5B50632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01" name="R601"/>
          <p:cNvSpPr>
            <a:spLocks noGrp="1"/>
          </p:cNvSpPr>
          <p:nvPr/>
        </p:nvSpPr>
        <p:spPr>
          <a:xfrm>
            <a:off x="196000" y="1320000"/>
            <a:ext cx="2135500" cy="48000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02" name="R602"/>
          <p:cNvSpPr>
            <a:spLocks noGrp="1"/>
          </p:cNvSpPr>
          <p:nvPr/>
        </p:nvSpPr>
        <p:spPr>
          <a:xfrm>
            <a:off x="196000" y="1320000"/>
            <a:ext cx="2135500" cy="32000"/>
          </a:xfrm>
          <a:prstGeom prst="rect">
            <a:avLst/>
          </a:prstGeom>
          <a:solidFill>
            <a:srgbClr val="0060A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03" name="T603"/>
          <p:cNvSpPr txBox="1"/>
          <p:nvPr/>
        </p:nvSpPr>
        <p:spPr>
          <a:xfrm>
            <a:off x="273138" y="1378331"/>
            <a:ext cx="2009500" cy="4766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ctr" fontAlgn="base">
              <a:lnSpc>
                <a:spcPts val="16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2200" b="1" kern="100" dirty="0">
                <a:solidFill>
                  <a:srgbClr val="0060AA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30</a:t>
            </a:r>
            <a:r>
              <a:rPr lang="en-US" sz="22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+</a:t>
            </a:r>
          </a:p>
          <a:p>
            <a:pPr marL="0" marR="0" algn="ctr" fontAlgn="base">
              <a:lnSpc>
                <a:spcPts val="16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950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Live Modules</a:t>
            </a:r>
          </a:p>
        </p:txBody>
      </p:sp>
      <p:sp>
        <p:nvSpPr>
          <p:cNvPr id="604" name="R604"/>
          <p:cNvSpPr>
            <a:spLocks noGrp="1"/>
          </p:cNvSpPr>
          <p:nvPr/>
        </p:nvSpPr>
        <p:spPr>
          <a:xfrm>
            <a:off x="2401500" y="1320000"/>
            <a:ext cx="2135500" cy="480000"/>
          </a:xfrm>
          <a:prstGeom prst="rect">
            <a:avLst/>
          </a:prstGeom>
          <a:solidFill>
            <a:srgbClr val="EDFAF3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05" name="R605"/>
          <p:cNvSpPr>
            <a:spLocks noGrp="1"/>
          </p:cNvSpPr>
          <p:nvPr/>
        </p:nvSpPr>
        <p:spPr>
          <a:xfrm>
            <a:off x="2401500" y="1320000"/>
            <a:ext cx="2135500" cy="320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06" name="T606"/>
          <p:cNvSpPr txBox="1"/>
          <p:nvPr/>
        </p:nvSpPr>
        <p:spPr>
          <a:xfrm>
            <a:off x="2483768" y="1389279"/>
            <a:ext cx="2009500" cy="4766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ctr" fontAlgn="base">
              <a:lnSpc>
                <a:spcPts val="16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2200" b="1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14</a:t>
            </a:r>
          </a:p>
          <a:p>
            <a:pPr marL="0" marR="0" algn="ctr" fontAlgn="base">
              <a:lnSpc>
                <a:spcPts val="16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950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Active Admins</a:t>
            </a:r>
          </a:p>
        </p:txBody>
      </p:sp>
      <p:sp>
        <p:nvSpPr>
          <p:cNvPr id="607" name="R607"/>
          <p:cNvSpPr>
            <a:spLocks noGrp="1"/>
          </p:cNvSpPr>
          <p:nvPr/>
        </p:nvSpPr>
        <p:spPr>
          <a:xfrm>
            <a:off x="4607000" y="1320000"/>
            <a:ext cx="2135500" cy="480000"/>
          </a:xfrm>
          <a:prstGeom prst="rect">
            <a:avLst/>
          </a:prstGeom>
          <a:solidFill>
            <a:srgbClr val="FFFBEB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08" name="R608"/>
          <p:cNvSpPr>
            <a:spLocks noGrp="1"/>
          </p:cNvSpPr>
          <p:nvPr/>
        </p:nvSpPr>
        <p:spPr>
          <a:xfrm>
            <a:off x="4607000" y="1320000"/>
            <a:ext cx="2135500" cy="3200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09" name="T609"/>
          <p:cNvSpPr txBox="1"/>
          <p:nvPr/>
        </p:nvSpPr>
        <p:spPr>
          <a:xfrm>
            <a:off x="4670000" y="1389278"/>
            <a:ext cx="2009500" cy="4766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ctr" fontAlgn="base">
              <a:lnSpc>
                <a:spcPts val="16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2200" b="1" kern="100" dirty="0">
                <a:solidFill>
                  <a:srgbClr val="8B6914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68%</a:t>
            </a:r>
          </a:p>
          <a:p>
            <a:pPr marL="0" marR="0" algn="ctr" fontAlgn="base">
              <a:lnSpc>
                <a:spcPts val="16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950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Modules Complete</a:t>
            </a:r>
          </a:p>
        </p:txBody>
      </p:sp>
      <p:sp>
        <p:nvSpPr>
          <p:cNvPr id="610" name="R610"/>
          <p:cNvSpPr>
            <a:spLocks noGrp="1"/>
          </p:cNvSpPr>
          <p:nvPr/>
        </p:nvSpPr>
        <p:spPr>
          <a:xfrm>
            <a:off x="6812500" y="1320000"/>
            <a:ext cx="2135500" cy="480000"/>
          </a:xfrm>
          <a:prstGeom prst="rect">
            <a:avLst/>
          </a:prstGeom>
          <a:solidFill>
            <a:srgbClr val="FFF5F5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11" name="R611"/>
          <p:cNvSpPr>
            <a:spLocks noGrp="1"/>
          </p:cNvSpPr>
          <p:nvPr/>
        </p:nvSpPr>
        <p:spPr>
          <a:xfrm>
            <a:off x="6812500" y="1320000"/>
            <a:ext cx="2135500" cy="32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12" name="T612"/>
          <p:cNvSpPr txBox="1"/>
          <p:nvPr/>
        </p:nvSpPr>
        <p:spPr>
          <a:xfrm>
            <a:off x="6934898" y="1401053"/>
            <a:ext cx="1935964" cy="4766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ctr" fontAlgn="base">
              <a:lnSpc>
                <a:spcPts val="16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2200" b="1" kern="100" dirty="0">
                <a:solidFill>
                  <a:srgbClr val="C00000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100%</a:t>
            </a:r>
          </a:p>
          <a:p>
            <a:pPr marL="0" marR="0" algn="ctr" fontAlgn="base">
              <a:lnSpc>
                <a:spcPts val="16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950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Auth Stage</a:t>
            </a:r>
          </a:p>
        </p:txBody>
      </p:sp>
      <p:sp>
        <p:nvSpPr>
          <p:cNvPr id="613" name="R613"/>
          <p:cNvSpPr>
            <a:spLocks noGrp="1"/>
          </p:cNvSpPr>
          <p:nvPr/>
        </p:nvSpPr>
        <p:spPr>
          <a:xfrm>
            <a:off x="196000" y="1860000"/>
            <a:ext cx="4331000" cy="180000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14" name="R614"/>
          <p:cNvSpPr>
            <a:spLocks noGrp="1"/>
          </p:cNvSpPr>
          <p:nvPr/>
        </p:nvSpPr>
        <p:spPr>
          <a:xfrm>
            <a:off x="196000" y="1860000"/>
            <a:ext cx="40000" cy="1800000"/>
          </a:xfrm>
          <a:prstGeom prst="rect">
            <a:avLst/>
          </a:prstGeom>
          <a:solidFill>
            <a:srgbClr val="0060A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15" name="T615"/>
          <p:cNvSpPr txBox="1"/>
          <p:nvPr/>
        </p:nvSpPr>
        <p:spPr>
          <a:xfrm>
            <a:off x="254000" y="1915000"/>
            <a:ext cx="4228000" cy="15367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l" fontAlgn="base">
              <a:lnSpc>
                <a:spcPts val="18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5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Live Metrics — April 2026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10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Employees: </a:t>
            </a:r>
            <a:r>
              <a:rPr lang="en-US" sz="1150" b="1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10 active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10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Esports Users: </a:t>
            </a:r>
            <a:r>
              <a:rPr lang="en-US" sz="115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2  |  Revenue: ₹</a:t>
            </a:r>
            <a:r>
              <a:rPr lang="en-US" sz="1150" b="1" kern="100" dirty="0">
                <a:solidFill>
                  <a:srgbClr val="0060AA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20,000</a:t>
            </a:r>
            <a:endParaRPr lang="en-US" sz="1150" b="1" kern="100" dirty="0">
              <a:solidFill>
                <a:srgbClr val="0060AA"/>
              </a:solidFill>
              <a:effectLst/>
              <a:latin typeface="Verdana" pitchFamily="34" charset="0"/>
              <a:ea typeface="Calibri" pitchFamily="34" charset="0"/>
              <a:cs typeface="Calibri" pitchFamily="34" charset="0"/>
            </a:endParaRP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10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Work Logged: </a:t>
            </a:r>
            <a:r>
              <a:rPr lang="en-US" sz="115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98 entries  |  170.5 hours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10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Content Created: </a:t>
            </a:r>
            <a:r>
              <a:rPr lang="en-US" sz="115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53 pieces across 5 platforms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10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Attendance Rate: </a:t>
            </a:r>
            <a:r>
              <a:rPr lang="en-US" sz="1150" b="1" kern="100" dirty="0">
                <a:solidFill>
                  <a:srgbClr val="8B6914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46% (6 of 13 present)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10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Audit Actions: </a:t>
            </a:r>
            <a:r>
              <a:rPr lang="en-US" sz="11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7 total  |  6 today</a:t>
            </a:r>
          </a:p>
        </p:txBody>
      </p:sp>
      <p:sp>
        <p:nvSpPr>
          <p:cNvPr id="616" name="R616"/>
          <p:cNvSpPr>
            <a:spLocks noGrp="1"/>
          </p:cNvSpPr>
          <p:nvPr/>
        </p:nvSpPr>
        <p:spPr>
          <a:xfrm>
            <a:off x="196000" y="3720000"/>
            <a:ext cx="4331000" cy="1200000"/>
          </a:xfrm>
          <a:prstGeom prst="rect">
            <a:avLst/>
          </a:prstGeom>
          <a:solidFill>
            <a:srgbClr val="EDFAF3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17" name="R617"/>
          <p:cNvSpPr>
            <a:spLocks noGrp="1"/>
          </p:cNvSpPr>
          <p:nvPr/>
        </p:nvSpPr>
        <p:spPr>
          <a:xfrm>
            <a:off x="196000" y="3720000"/>
            <a:ext cx="40000" cy="12000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18" name="T618"/>
          <p:cNvSpPr txBox="1"/>
          <p:nvPr/>
        </p:nvSpPr>
        <p:spPr>
          <a:xfrm>
            <a:off x="254000" y="3775000"/>
            <a:ext cx="4228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l" fontAlgn="base">
              <a:lnSpc>
                <a:spcPts val="18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500" b="1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Status: LIVE at admin.thrylos.in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Portal fully deployed and actively used in production by 13 admins.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28+ modules built, tested &amp; live — HR, esports, analytics, comms, finance.</a:t>
            </a:r>
          </a:p>
        </p:txBody>
      </p:sp>
      <p:sp>
        <p:nvSpPr>
          <p:cNvPr id="627" name="R627"/>
          <p:cNvSpPr>
            <a:spLocks noGrp="1"/>
          </p:cNvSpPr>
          <p:nvPr/>
        </p:nvSpPr>
        <p:spPr>
          <a:xfrm>
            <a:off x="4617000" y="1860000"/>
            <a:ext cx="4331000" cy="272000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28" name="R628"/>
          <p:cNvSpPr>
            <a:spLocks noGrp="1"/>
          </p:cNvSpPr>
          <p:nvPr/>
        </p:nvSpPr>
        <p:spPr>
          <a:xfrm>
            <a:off x="4617000" y="1860000"/>
            <a:ext cx="40000" cy="2720000"/>
          </a:xfrm>
          <a:prstGeom prst="rect">
            <a:avLst/>
          </a:prstGeom>
          <a:solidFill>
            <a:srgbClr val="0060A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29" name="T629"/>
          <p:cNvSpPr txBox="1"/>
          <p:nvPr/>
        </p:nvSpPr>
        <p:spPr>
          <a:xfrm>
            <a:off x="4675000" y="1915000"/>
            <a:ext cx="4228000" cy="2699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l" fontAlgn="base">
              <a:lnSpc>
                <a:spcPts val="18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500" b="1" kern="100" dirty="0">
                <a:solidFill>
                  <a:srgbClr val="00336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Phase Completion</a:t>
            </a:r>
          </a:p>
          <a:p>
            <a:pPr marL="0" marR="0" algn="l" fontAlgn="base">
              <a:lnSpc>
                <a:spcPts val="16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200" b="1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Phase 1 — Auth &amp; Core Dashboard</a:t>
            </a:r>
          </a:p>
          <a:p>
            <a:pPr marL="0" marR="0" algn="l" fontAlgn="base">
              <a:lnSpc>
                <a:spcPts val="16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050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100% Complete  ✅</a:t>
            </a:r>
          </a:p>
          <a:p>
            <a:pPr marL="0" marR="0" algn="l" fontAlgn="base">
              <a:lnSpc>
                <a:spcPts val="1600"/>
              </a:lnSpc>
              <a:spcBef>
                <a:spcPts val="50"/>
              </a:spcBef>
              <a:spcAft>
                <a:spcPts val="0"/>
              </a:spcAft>
              <a:buNone/>
            </a:pPr>
            <a:endParaRPr lang="en-US" sz="1050" kern="100" dirty="0">
              <a:solidFill>
                <a:srgbClr val="1A7A4A"/>
              </a:solidFill>
              <a:effectLst/>
              <a:latin typeface="Verdana" pitchFamily="34" charset="0"/>
              <a:ea typeface="Calibri" pitchFamily="34" charset="0"/>
              <a:cs typeface="Calibri" pitchFamily="34" charset="0"/>
            </a:endParaRPr>
          </a:p>
          <a:p>
            <a:pPr marL="0" marR="0" algn="l" fontAlgn="base">
              <a:lnSpc>
                <a:spcPts val="16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200" b="1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Phase 2 — HR &amp; Employee Modules</a:t>
            </a:r>
          </a:p>
          <a:p>
            <a:pPr marL="0" marR="0" algn="l" fontAlgn="base">
              <a:lnSpc>
                <a:spcPts val="16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050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100% Complete  ✅</a:t>
            </a:r>
          </a:p>
          <a:p>
            <a:pPr marL="0" marR="0" algn="l" fontAlgn="base">
              <a:lnSpc>
                <a:spcPts val="1600"/>
              </a:lnSpc>
              <a:spcBef>
                <a:spcPts val="50"/>
              </a:spcBef>
              <a:spcAft>
                <a:spcPts val="0"/>
              </a:spcAft>
              <a:buNone/>
            </a:pPr>
            <a:endParaRPr lang="en-US" sz="1050" kern="100" dirty="0">
              <a:solidFill>
                <a:srgbClr val="1A7A4A"/>
              </a:solidFill>
              <a:effectLst/>
              <a:latin typeface="Verdana" pitchFamily="34" charset="0"/>
              <a:ea typeface="Calibri" pitchFamily="34" charset="0"/>
              <a:cs typeface="Calibri" pitchFamily="34" charset="0"/>
            </a:endParaRPr>
          </a:p>
          <a:p>
            <a:pPr marL="0" marR="0" algn="l" fontAlgn="base">
              <a:lnSpc>
                <a:spcPts val="16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200" b="1" kern="100" dirty="0">
                <a:solidFill>
                  <a:srgbClr val="008000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Phase 3 — Esports, Analytics &amp; Finance</a:t>
            </a:r>
          </a:p>
          <a:p>
            <a:pPr fontAlgn="base">
              <a:lnSpc>
                <a:spcPts val="1600"/>
              </a:lnSpc>
              <a:spcBef>
                <a:spcPts val="50"/>
              </a:spcBef>
            </a:pPr>
            <a:r>
              <a:rPr lang="en-US" sz="1050" kern="100" dirty="0">
                <a:solidFill>
                  <a:srgbClr val="1A7A4A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100% Complete  ✅</a:t>
            </a:r>
          </a:p>
          <a:p>
            <a:pPr fontAlgn="base">
              <a:lnSpc>
                <a:spcPts val="1600"/>
              </a:lnSpc>
              <a:spcBef>
                <a:spcPts val="50"/>
              </a:spcBef>
            </a:pPr>
            <a:endParaRPr lang="en-US" sz="1050" kern="100" dirty="0">
              <a:solidFill>
                <a:srgbClr val="1A7A4A"/>
              </a:solidFill>
              <a:latin typeface="Verdana" pitchFamily="34" charset="0"/>
              <a:ea typeface="Calibri" pitchFamily="34" charset="0"/>
              <a:cs typeface="Calibri" pitchFamily="34" charset="0"/>
            </a:endParaRPr>
          </a:p>
          <a:p>
            <a:pPr marL="0" marR="0" algn="l" fontAlgn="base">
              <a:lnSpc>
                <a:spcPts val="16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200" b="1" kern="100" dirty="0">
                <a:solidFill>
                  <a:srgbClr val="008000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Phase 4 — Realtime &amp; Communication</a:t>
            </a:r>
          </a:p>
          <a:p>
            <a:pPr fontAlgn="base">
              <a:lnSpc>
                <a:spcPts val="1600"/>
              </a:lnSpc>
              <a:spcBef>
                <a:spcPts val="50"/>
              </a:spcBef>
            </a:pPr>
            <a:r>
              <a:rPr lang="en-US" sz="1050" kern="100" dirty="0">
                <a:solidFill>
                  <a:srgbClr val="1A7A4A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100% Complete  ✅</a:t>
            </a:r>
          </a:p>
        </p:txBody>
      </p:sp>
    </p:spTree>
    <p:extLst>
      <p:ext uri="{BB962C8B-B14F-4D97-AF65-F5344CB8AC3E}">
        <p14:creationId xmlns:p14="http://schemas.microsoft.com/office/powerpoint/2010/main" val="1305621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5C45B-C9D0-DBF5-811F-0F08DB7B9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CAFCE0-31E7-9CED-BEF6-9C94A97D7C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C8D1C93-2569-153C-C90B-6D82C35C1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77423"/>
            <a:ext cx="89644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Detailed Progress – Development Phase</a:t>
            </a:r>
            <a:endParaRPr lang="en-IN" sz="28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161CDA-82E4-E4CE-AB8A-F7E4594878E9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FB65409-50C0-1C48-4C06-AA7695D3A2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701" name="R701"/>
          <p:cNvSpPr>
            <a:spLocks noGrp="1"/>
          </p:cNvSpPr>
          <p:nvPr/>
        </p:nvSpPr>
        <p:spPr>
          <a:xfrm>
            <a:off x="196000" y="1320000"/>
            <a:ext cx="4331000" cy="300000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02" name="R702"/>
          <p:cNvSpPr>
            <a:spLocks noGrp="1"/>
          </p:cNvSpPr>
          <p:nvPr/>
        </p:nvSpPr>
        <p:spPr>
          <a:xfrm>
            <a:off x="196000" y="1320000"/>
            <a:ext cx="40000" cy="3000000"/>
          </a:xfrm>
          <a:prstGeom prst="rect">
            <a:avLst/>
          </a:prstGeom>
          <a:solidFill>
            <a:srgbClr val="0060A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703" name="T703"/>
          <p:cNvSpPr txBox="1"/>
          <p:nvPr/>
        </p:nvSpPr>
        <p:spPr>
          <a:xfrm>
            <a:off x="254000" y="1375000"/>
            <a:ext cx="4228000" cy="4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marR="0" algn="l" fontAlgn="base">
              <a:lnSpc>
                <a:spcPts val="18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5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Authentication System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OTP pipeline: Email → Geolocation → OTP via Brevo → Verify → JWT Session.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Supabase Edge Functions (Deno) handle OTP gen, delivery &amp; server-side verification.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Zero passwords stored ever. Fresh OTP required every session.</a:t>
            </a:r>
          </a:p>
        </p:txBody>
      </p:sp>
      <p:sp>
        <p:nvSpPr>
          <p:cNvPr id="704" name="R704"/>
          <p:cNvSpPr>
            <a:spLocks noGrp="1"/>
          </p:cNvSpPr>
          <p:nvPr/>
        </p:nvSpPr>
        <p:spPr>
          <a:xfrm>
            <a:off x="196000" y="2880000"/>
            <a:ext cx="4331000" cy="300000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05" name="R705"/>
          <p:cNvSpPr>
            <a:spLocks noGrp="1"/>
          </p:cNvSpPr>
          <p:nvPr/>
        </p:nvSpPr>
        <p:spPr>
          <a:xfrm>
            <a:off x="196000" y="2880000"/>
            <a:ext cx="40000" cy="3000000"/>
          </a:xfrm>
          <a:prstGeom prst="rect">
            <a:avLst/>
          </a:prstGeom>
          <a:solidFill>
            <a:srgbClr val="0097D4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706" name="T706"/>
          <p:cNvSpPr txBox="1"/>
          <p:nvPr/>
        </p:nvSpPr>
        <p:spPr>
          <a:xfrm>
            <a:off x="254000" y="2935000"/>
            <a:ext cx="4228000" cy="3573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marR="0" algn="l" fontAlgn="base">
              <a:lnSpc>
                <a:spcPts val="18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500" b="1" kern="100" dirty="0">
                <a:solidFill>
                  <a:srgbClr val="0097D4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Dashboard &amp; Data Modules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Super Admin dashboard: Live Attendance Stats, Formal Reviews panel, Recent Work Logs feed.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4 core data cards: Esports Players, Social Media Analytics, Tech Work, Content Work.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Kanban Task Board (realtime sync); Daily Standup with mood tracking; Holiday Calendar.</a:t>
            </a:r>
          </a:p>
        </p:txBody>
      </p:sp>
      <p:sp>
        <p:nvSpPr>
          <p:cNvPr id="707" name="R707"/>
          <p:cNvSpPr>
            <a:spLocks noGrp="1"/>
          </p:cNvSpPr>
          <p:nvPr/>
        </p:nvSpPr>
        <p:spPr>
          <a:xfrm>
            <a:off x="241000" y="4445507"/>
            <a:ext cx="4331000" cy="1843814"/>
          </a:xfrm>
          <a:prstGeom prst="rect">
            <a:avLst/>
          </a:prstGeom>
          <a:solidFill>
            <a:srgbClr val="FFFBEB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08" name="R708"/>
          <p:cNvSpPr>
            <a:spLocks noGrp="1"/>
          </p:cNvSpPr>
          <p:nvPr/>
        </p:nvSpPr>
        <p:spPr>
          <a:xfrm>
            <a:off x="196000" y="4340000"/>
            <a:ext cx="40000" cy="216800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709" name="T709"/>
          <p:cNvSpPr txBox="1"/>
          <p:nvPr/>
        </p:nvSpPr>
        <p:spPr>
          <a:xfrm>
            <a:off x="316128" y="4518096"/>
            <a:ext cx="4228000" cy="2113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marR="0" algn="l" fontAlgn="base">
              <a:lnSpc>
                <a:spcPts val="18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500" b="1" kern="100" dirty="0">
                <a:solidFill>
                  <a:srgbClr val="8B6914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Email Infrastructure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All email via Brevo REST API through Supabase Edge Functions.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Types: OTP Login · Certificate Issuance · Payment Receipts · Notifications.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Quota: 15 emails/admin/day. Sender: @admin.thrylos.in.</a:t>
            </a:r>
          </a:p>
        </p:txBody>
      </p:sp>
      <p:sp>
        <p:nvSpPr>
          <p:cNvPr id="710" name="R710"/>
          <p:cNvSpPr>
            <a:spLocks noGrp="1"/>
          </p:cNvSpPr>
          <p:nvPr/>
        </p:nvSpPr>
        <p:spPr>
          <a:xfrm>
            <a:off x="4617000" y="1320000"/>
            <a:ext cx="4331000" cy="3000000"/>
          </a:xfrm>
          <a:prstGeom prst="rect">
            <a:avLst/>
          </a:prstGeom>
          <a:solidFill>
            <a:srgbClr val="EDFAF3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11" name="R711"/>
          <p:cNvSpPr>
            <a:spLocks noGrp="1"/>
          </p:cNvSpPr>
          <p:nvPr/>
        </p:nvSpPr>
        <p:spPr>
          <a:xfrm>
            <a:off x="4617000" y="1320000"/>
            <a:ext cx="40000" cy="30000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712" name="T712"/>
          <p:cNvSpPr txBox="1"/>
          <p:nvPr/>
        </p:nvSpPr>
        <p:spPr>
          <a:xfrm>
            <a:off x="4675000" y="1375000"/>
            <a:ext cx="4228000" cy="4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marR="0" algn="l" fontAlgn="base">
              <a:lnSpc>
                <a:spcPts val="18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500" b="1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HR &amp; Administration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Employee Mgmt: 10 records with Aadhaar, PAN, offer letters &amp; secure document vault.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Leave Management with approval flow; Admin Mgmt with role assignment &amp; access reset.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Bulk CSV/Excel upload with smart validation; Audit Logs tracking all admin actions.</a:t>
            </a:r>
          </a:p>
        </p:txBody>
      </p:sp>
      <p:sp>
        <p:nvSpPr>
          <p:cNvPr id="713" name="R713"/>
          <p:cNvSpPr>
            <a:spLocks noGrp="1"/>
          </p:cNvSpPr>
          <p:nvPr/>
        </p:nvSpPr>
        <p:spPr>
          <a:xfrm>
            <a:off x="4617000" y="2880000"/>
            <a:ext cx="4331000" cy="300000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14" name="R714"/>
          <p:cNvSpPr>
            <a:spLocks noGrp="1"/>
          </p:cNvSpPr>
          <p:nvPr/>
        </p:nvSpPr>
        <p:spPr>
          <a:xfrm>
            <a:off x="4617000" y="2880000"/>
            <a:ext cx="40000" cy="3000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715" name="T715"/>
          <p:cNvSpPr txBox="1"/>
          <p:nvPr/>
        </p:nvSpPr>
        <p:spPr>
          <a:xfrm>
            <a:off x="4675000" y="2935000"/>
            <a:ext cx="4228000" cy="3573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marR="0" algn="l" fontAlgn="base">
              <a:lnSpc>
                <a:spcPts val="18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500" b="1" kern="100" dirty="0">
                <a:solidFill>
                  <a:srgbClr val="6B21A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Realtime &amp; Communication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WebSocket Team Chat (Supabase Realtime): 13 users, file upload, channel management.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Notification Center: push, filter by type, DND scheduling, category tags.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Polls &amp; Surveys · Announcements · Meeting Notes · Expense Claims (all live).</a:t>
            </a:r>
          </a:p>
        </p:txBody>
      </p:sp>
      <p:sp>
        <p:nvSpPr>
          <p:cNvPr id="716" name="R716"/>
          <p:cNvSpPr>
            <a:spLocks noGrp="1"/>
          </p:cNvSpPr>
          <p:nvPr/>
        </p:nvSpPr>
        <p:spPr>
          <a:xfrm>
            <a:off x="4617000" y="4463096"/>
            <a:ext cx="4331000" cy="2037481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17" name="R717"/>
          <p:cNvSpPr>
            <a:spLocks noGrp="1"/>
          </p:cNvSpPr>
          <p:nvPr/>
        </p:nvSpPr>
        <p:spPr>
          <a:xfrm>
            <a:off x="4617000" y="4340000"/>
            <a:ext cx="40000" cy="216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718" name="T718"/>
          <p:cNvSpPr txBox="1"/>
          <p:nvPr/>
        </p:nvSpPr>
        <p:spPr>
          <a:xfrm>
            <a:off x="4675000" y="4526559"/>
            <a:ext cx="4228000" cy="2085577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marR="0" algn="l" fontAlgn="base">
              <a:lnSpc>
                <a:spcPts val="18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500" b="1" kern="100" dirty="0">
                <a:solidFill>
                  <a:srgbClr val="00336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Stage Progress Tracker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10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Stage 1 — Core Auth: </a:t>
            </a:r>
            <a:r>
              <a:rPr lang="en-US" sz="1150" b="1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100%  ✅</a:t>
            </a:r>
          </a:p>
          <a:p>
            <a:pPr fontAlgn="base">
              <a:lnSpc>
                <a:spcPts val="1500"/>
              </a:lnSpc>
              <a:spcBef>
                <a:spcPts val="70"/>
              </a:spcBef>
            </a:pPr>
            <a:r>
              <a:rPr lang="en-US" sz="110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Stage 2 — Feature Modules: </a:t>
            </a:r>
            <a:r>
              <a:rPr lang="en-US" sz="1150" b="1" kern="100" dirty="0">
                <a:solidFill>
                  <a:srgbClr val="1A7A4A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100%  ✅</a:t>
            </a:r>
          </a:p>
          <a:p>
            <a:pPr fontAlgn="base">
              <a:lnSpc>
                <a:spcPts val="1500"/>
              </a:lnSpc>
              <a:spcBef>
                <a:spcPts val="70"/>
              </a:spcBef>
            </a:pPr>
            <a:r>
              <a:rPr lang="en-US" sz="110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Stage 3 — Integration: </a:t>
            </a:r>
            <a:r>
              <a:rPr lang="en-US" sz="1150" b="1" kern="100" dirty="0">
                <a:solidFill>
                  <a:srgbClr val="1A7A4A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100%  ✅</a:t>
            </a:r>
          </a:p>
          <a:p>
            <a:pPr fontAlgn="base">
              <a:lnSpc>
                <a:spcPts val="1500"/>
              </a:lnSpc>
              <a:spcBef>
                <a:spcPts val="70"/>
              </a:spcBef>
            </a:pPr>
            <a:r>
              <a:rPr lang="en-US" sz="110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Stage 4 — Deployment: </a:t>
            </a:r>
            <a:r>
              <a:rPr lang="en-US" sz="1100" b="1" kern="100" dirty="0">
                <a:solidFill>
                  <a:srgbClr val="1A7A4A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100%  ✅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10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Total Modules Built: </a:t>
            </a:r>
            <a:r>
              <a:rPr lang="en-US" sz="1150" b="1" kern="100" dirty="0">
                <a:solidFill>
                  <a:srgbClr val="0060AA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30</a:t>
            </a:r>
            <a:r>
              <a:rPr lang="en-US" sz="115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+ fully functional</a:t>
            </a:r>
          </a:p>
        </p:txBody>
      </p:sp>
    </p:spTree>
    <p:extLst>
      <p:ext uri="{BB962C8B-B14F-4D97-AF65-F5344CB8AC3E}">
        <p14:creationId xmlns:p14="http://schemas.microsoft.com/office/powerpoint/2010/main" val="1302546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801" name="R801"/>
          <p:cNvSpPr>
            <a:spLocks noGrp="1"/>
          </p:cNvSpPr>
          <p:nvPr/>
        </p:nvSpPr>
        <p:spPr>
          <a:xfrm>
            <a:off x="196000" y="1320000"/>
            <a:ext cx="4331000" cy="300000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802" name="R802"/>
          <p:cNvSpPr>
            <a:spLocks noGrp="1"/>
          </p:cNvSpPr>
          <p:nvPr/>
        </p:nvSpPr>
        <p:spPr>
          <a:xfrm>
            <a:off x="196000" y="1320000"/>
            <a:ext cx="40000" cy="3000000"/>
          </a:xfrm>
          <a:prstGeom prst="rect">
            <a:avLst/>
          </a:prstGeom>
          <a:solidFill>
            <a:srgbClr val="0060A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803" name="T803"/>
          <p:cNvSpPr txBox="1"/>
          <p:nvPr/>
        </p:nvSpPr>
        <p:spPr>
          <a:xfrm>
            <a:off x="254000" y="1375000"/>
            <a:ext cx="4228000" cy="4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marR="0" algn="l" fontAlgn="base">
              <a:lnSpc>
                <a:spcPts val="18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5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Development Approach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Agile methodology — iterative sprints, each module built, tested &amp; deployed independently.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Component-driven React 18: reusable UI components, Shadcn/UI base library, Tailwind CSS utilities.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TypeScript 5 enforced end-to-end from frontend components to Supabase table types.</a:t>
            </a:r>
          </a:p>
        </p:txBody>
      </p:sp>
      <p:sp>
        <p:nvSpPr>
          <p:cNvPr id="804" name="R804"/>
          <p:cNvSpPr>
            <a:spLocks noGrp="1"/>
          </p:cNvSpPr>
          <p:nvPr/>
        </p:nvSpPr>
        <p:spPr>
          <a:xfrm>
            <a:off x="196000" y="3213260"/>
            <a:ext cx="4331000" cy="300000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805" name="R805"/>
          <p:cNvSpPr>
            <a:spLocks noGrp="1"/>
          </p:cNvSpPr>
          <p:nvPr/>
        </p:nvSpPr>
        <p:spPr>
          <a:xfrm>
            <a:off x="196000" y="2680000"/>
            <a:ext cx="40000" cy="3000000"/>
          </a:xfrm>
          <a:prstGeom prst="rect">
            <a:avLst/>
          </a:prstGeom>
          <a:solidFill>
            <a:srgbClr val="0097D4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806" name="T806"/>
          <p:cNvSpPr txBox="1"/>
          <p:nvPr/>
        </p:nvSpPr>
        <p:spPr>
          <a:xfrm>
            <a:off x="224012" y="3201234"/>
            <a:ext cx="4228000" cy="3773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marR="0" algn="l" fontAlgn="base">
              <a:lnSpc>
                <a:spcPts val="18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500" b="1" kern="100" dirty="0">
                <a:solidFill>
                  <a:srgbClr val="0097D4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Backend &amp; Data Layer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Supabase PostgreSQL as the single source of truth. Row-Level Security (RLS) on every table.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Supabase Realtime WebSocket for live data: chat messages, notifications &amp; task sync.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Supabase Auth for session management; JWT with role payload issued post-OTP verification.</a:t>
            </a:r>
          </a:p>
        </p:txBody>
      </p:sp>
      <p:sp>
        <p:nvSpPr>
          <p:cNvPr id="807" name="R807"/>
          <p:cNvSpPr>
            <a:spLocks noGrp="1"/>
          </p:cNvSpPr>
          <p:nvPr/>
        </p:nvSpPr>
        <p:spPr>
          <a:xfrm>
            <a:off x="227612" y="4707242"/>
            <a:ext cx="4331000" cy="1513225"/>
          </a:xfrm>
          <a:prstGeom prst="rect">
            <a:avLst/>
          </a:prstGeom>
          <a:solidFill>
            <a:srgbClr val="EDFAF3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808" name="R808"/>
          <p:cNvSpPr>
            <a:spLocks noGrp="1"/>
          </p:cNvSpPr>
          <p:nvPr/>
        </p:nvSpPr>
        <p:spPr>
          <a:xfrm>
            <a:off x="196000" y="4140000"/>
            <a:ext cx="40000" cy="23680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809" name="T809"/>
          <p:cNvSpPr txBox="1"/>
          <p:nvPr/>
        </p:nvSpPr>
        <p:spPr>
          <a:xfrm>
            <a:off x="276500" y="4693500"/>
            <a:ext cx="4228000" cy="2313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marR="0" algn="l" fontAlgn="base">
              <a:lnSpc>
                <a:spcPts val="18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500" b="1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DevOps &amp; Deployment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Netlify CI/CD pipeline — every push to main deploys to edge automatically.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Custom GoDaddy domains: admin.thrylos.in · thrylos.in · thrylosindia.in · thrylosauth.in.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Environment vars in Netlify dashboard. ESLint enforced on all TypeScript files.</a:t>
            </a:r>
          </a:p>
        </p:txBody>
      </p:sp>
      <p:sp>
        <p:nvSpPr>
          <p:cNvPr id="810" name="R810"/>
          <p:cNvSpPr>
            <a:spLocks noGrp="1"/>
          </p:cNvSpPr>
          <p:nvPr/>
        </p:nvSpPr>
        <p:spPr>
          <a:xfrm>
            <a:off x="4617000" y="1319999"/>
            <a:ext cx="4331000" cy="4900465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811" name="R811"/>
          <p:cNvSpPr>
            <a:spLocks noGrp="1"/>
          </p:cNvSpPr>
          <p:nvPr/>
        </p:nvSpPr>
        <p:spPr>
          <a:xfrm>
            <a:off x="4616999" y="1320000"/>
            <a:ext cx="45719" cy="48932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812" name="T812"/>
          <p:cNvSpPr txBox="1"/>
          <p:nvPr/>
        </p:nvSpPr>
        <p:spPr>
          <a:xfrm>
            <a:off x="4675000" y="1375000"/>
            <a:ext cx="4228000" cy="48934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l" fontAlgn="base">
              <a:lnSpc>
                <a:spcPts val="18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500" b="1" kern="100" dirty="0">
                <a:solidFill>
                  <a:srgbClr val="00336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Full Tech Stack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10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Frontend: </a:t>
            </a:r>
            <a:r>
              <a:rPr lang="en-US" sz="115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React 18 + TypeScript 5 + Tailwind CSS 3.4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10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Backend: </a:t>
            </a:r>
            <a:r>
              <a:rPr lang="en-US" sz="115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Supabase (PostgreSQL + Auth + Realtime + Edge Functions)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10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State Mgmt: </a:t>
            </a:r>
            <a:r>
              <a:rPr lang="en-US" sz="115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React Context API + React Query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10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UI Library: </a:t>
            </a:r>
            <a:r>
              <a:rPr lang="en-US" sz="115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shadcn/ui + Radix UI + Lucide Icons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10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Charts: </a:t>
            </a:r>
            <a:r>
              <a:rPr lang="en-US" sz="115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Recharts + Custom Chart.js components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10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Realtime: </a:t>
            </a:r>
            <a:r>
              <a:rPr lang="en-US" sz="115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Supabase Realtime WebSocket Subscriptions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10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Email API: </a:t>
            </a:r>
            <a:r>
              <a:rPr lang="en-US" sz="115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Brevo Transactional REST API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10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Payments: </a:t>
            </a:r>
            <a:r>
              <a:rPr lang="en-US" sz="115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UPI QR + Manual Admin Verification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10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Auth: </a:t>
            </a:r>
            <a:r>
              <a:rPr lang="en-US" sz="115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Supabase Auth + OTP + Geolocation gating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10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Build Tool: </a:t>
            </a:r>
            <a:r>
              <a:rPr lang="en-US" sz="115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Vite + ESLint + TypeScript Compiler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10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Hosting: </a:t>
            </a:r>
            <a:r>
              <a:rPr lang="en-US" sz="115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Netlify (CI/CD + edge deployment)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10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Domain: </a:t>
            </a:r>
            <a:r>
              <a:rPr lang="en-US" sz="115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GoDaddy — 4 custom domains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10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Animations: </a:t>
            </a:r>
            <a:r>
              <a:rPr lang="en-US" sz="115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Framer Motion 11</a:t>
            </a:r>
            <a:endParaRPr lang="en-US" sz="1500" b="1" kern="100" dirty="0">
              <a:solidFill>
                <a:srgbClr val="1A7A4A"/>
              </a:solidFill>
              <a:effectLst/>
              <a:latin typeface="Verdana" pitchFamily="34" charset="0"/>
              <a:ea typeface="Calibri" pitchFamily="34" charset="0"/>
              <a:cs typeface="Calibri" pitchFamily="34" charset="0"/>
            </a:endParaRPr>
          </a:p>
          <a:p>
            <a:pPr marL="0" marR="0" algn="l" fontAlgn="base">
              <a:lnSpc>
                <a:spcPct val="15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500" b="1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Testing &amp; Quality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Manual QA per module on every feature sprint.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ESLint rules enforced — zero lint errors on main branch.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Vite build validation runs on every Netlify deploy.</a:t>
            </a:r>
          </a:p>
        </p:txBody>
      </p:sp>
    </p:spTree>
    <p:extLst>
      <p:ext uri="{BB962C8B-B14F-4D97-AF65-F5344CB8AC3E}">
        <p14:creationId xmlns:p14="http://schemas.microsoft.com/office/powerpoint/2010/main" val="1099878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100424"/>
            <a:ext cx="828092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 Architecture – Authentication Flow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BB1AC4FE-9A4F-F464-CA8E-3B900C297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2AEF02E-64A6-6432-1444-81368AF7F7EA}"/>
                  </a:ext>
                </a:extLst>
              </p14:cNvPr>
              <p14:cNvContentPartPr/>
              <p14:nvPr/>
            </p14:nvContentPartPr>
            <p14:xfrm>
              <a:off x="6087360" y="2475240"/>
              <a:ext cx="646200" cy="333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2AEF02E-64A6-6432-1444-81368AF7F7E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24360" y="2412240"/>
                <a:ext cx="771840" cy="459360"/>
              </a:xfrm>
              <a:prstGeom prst="rect">
                <a:avLst/>
              </a:prstGeom>
            </p:spPr>
          </p:pic>
        </mc:Fallback>
      </mc:AlternateContent>
      <p:sp>
        <p:nvSpPr>
          <p:cNvPr id="901" name="R901"/>
          <p:cNvSpPr>
            <a:spLocks noGrp="1"/>
          </p:cNvSpPr>
          <p:nvPr/>
        </p:nvSpPr>
        <p:spPr>
          <a:xfrm>
            <a:off x="196000" y="1320000"/>
            <a:ext cx="1694400" cy="900000"/>
          </a:xfrm>
          <a:prstGeom prst="rect">
            <a:avLst/>
          </a:prstGeom>
          <a:solidFill>
            <a:srgbClr val="EBF4FF"/>
          </a:solidFill>
          <a:ln w="19050">
            <a:solidFill>
              <a:srgbClr val="0060AA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902" name="R902"/>
          <p:cNvSpPr>
            <a:spLocks noGrp="1"/>
          </p:cNvSpPr>
          <p:nvPr/>
        </p:nvSpPr>
        <p:spPr>
          <a:xfrm>
            <a:off x="196000" y="1320000"/>
            <a:ext cx="1694400" cy="900000"/>
          </a:xfrm>
          <a:prstGeom prst="rect">
            <a:avLst/>
          </a:prstGeom>
          <a:solidFill>
            <a:srgbClr val="0060A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903" name="T903"/>
          <p:cNvSpPr txBox="1"/>
          <p:nvPr/>
        </p:nvSpPr>
        <p:spPr>
          <a:xfrm>
            <a:off x="196000" y="1358000"/>
            <a:ext cx="1694400" cy="2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ctr" fontAlgn="base">
              <a:lnSpc>
                <a:spcPts val="15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20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01</a:t>
            </a:r>
          </a:p>
        </p:txBody>
      </p:sp>
      <p:sp>
        <p:nvSpPr>
          <p:cNvPr id="904" name="T904"/>
          <p:cNvSpPr txBox="1"/>
          <p:nvPr/>
        </p:nvSpPr>
        <p:spPr>
          <a:xfrm>
            <a:off x="216000" y="1350001"/>
            <a:ext cx="1634400" cy="5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ctr" fontAlgn="base">
              <a:lnSpc>
                <a:spcPts val="135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98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Admin enters registered email at admin.thrylos.in</a:t>
            </a:r>
          </a:p>
        </p:txBody>
      </p:sp>
      <p:sp>
        <p:nvSpPr>
          <p:cNvPr id="905" name="T905"/>
          <p:cNvSpPr txBox="1"/>
          <p:nvPr/>
        </p:nvSpPr>
        <p:spPr>
          <a:xfrm>
            <a:off x="1855400" y="1670000"/>
            <a:ext cx="140000" cy="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ctr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1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▶</a:t>
            </a:r>
          </a:p>
        </p:txBody>
      </p:sp>
      <p:sp>
        <p:nvSpPr>
          <p:cNvPr id="906" name="R906"/>
          <p:cNvSpPr>
            <a:spLocks noGrp="1"/>
          </p:cNvSpPr>
          <p:nvPr/>
        </p:nvSpPr>
        <p:spPr>
          <a:xfrm>
            <a:off x="1960400" y="1320000"/>
            <a:ext cx="1694400" cy="900000"/>
          </a:xfrm>
          <a:prstGeom prst="rect">
            <a:avLst/>
          </a:prstGeom>
          <a:solidFill>
            <a:srgbClr val="EBF4FF"/>
          </a:solidFill>
          <a:ln w="19050">
            <a:solidFill>
              <a:srgbClr val="0097D4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907" name="R907"/>
          <p:cNvSpPr>
            <a:spLocks noGrp="1"/>
          </p:cNvSpPr>
          <p:nvPr/>
        </p:nvSpPr>
        <p:spPr>
          <a:xfrm>
            <a:off x="1960400" y="1320000"/>
            <a:ext cx="1694400" cy="900000"/>
          </a:xfrm>
          <a:prstGeom prst="rect">
            <a:avLst/>
          </a:prstGeom>
          <a:solidFill>
            <a:srgbClr val="0097D4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908" name="T908"/>
          <p:cNvSpPr txBox="1"/>
          <p:nvPr/>
        </p:nvSpPr>
        <p:spPr>
          <a:xfrm>
            <a:off x="1960400" y="1358000"/>
            <a:ext cx="1694400" cy="2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ctr" fontAlgn="base">
              <a:lnSpc>
                <a:spcPts val="15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2000" b="1" kern="100" dirty="0">
                <a:solidFill>
                  <a:srgbClr val="0097D4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02</a:t>
            </a:r>
          </a:p>
        </p:txBody>
      </p:sp>
      <p:sp>
        <p:nvSpPr>
          <p:cNvPr id="909" name="T909"/>
          <p:cNvSpPr txBox="1"/>
          <p:nvPr/>
        </p:nvSpPr>
        <p:spPr>
          <a:xfrm>
            <a:off x="1997788" y="1312500"/>
            <a:ext cx="1634400" cy="5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ctr" fontAlgn="base">
              <a:lnSpc>
                <a:spcPts val="135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98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Browser Geolocation captures Lat, Long, City, IP — stored for audit</a:t>
            </a:r>
          </a:p>
        </p:txBody>
      </p:sp>
      <p:sp>
        <p:nvSpPr>
          <p:cNvPr id="910" name="T910"/>
          <p:cNvSpPr txBox="1"/>
          <p:nvPr/>
        </p:nvSpPr>
        <p:spPr>
          <a:xfrm>
            <a:off x="3619800" y="1670000"/>
            <a:ext cx="140000" cy="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ctr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100" b="1" kern="100" dirty="0">
                <a:solidFill>
                  <a:srgbClr val="0097D4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▶</a:t>
            </a:r>
          </a:p>
        </p:txBody>
      </p:sp>
      <p:sp>
        <p:nvSpPr>
          <p:cNvPr id="911" name="R911"/>
          <p:cNvSpPr>
            <a:spLocks noGrp="1"/>
          </p:cNvSpPr>
          <p:nvPr/>
        </p:nvSpPr>
        <p:spPr>
          <a:xfrm>
            <a:off x="3724800" y="1320000"/>
            <a:ext cx="1694400" cy="900000"/>
          </a:xfrm>
          <a:prstGeom prst="rect">
            <a:avLst/>
          </a:prstGeom>
          <a:solidFill>
            <a:srgbClr val="FFFBEB"/>
          </a:solidFill>
          <a:ln w="19050">
            <a:solidFill>
              <a:srgbClr val="8B6914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912" name="R912"/>
          <p:cNvSpPr>
            <a:spLocks noGrp="1"/>
          </p:cNvSpPr>
          <p:nvPr/>
        </p:nvSpPr>
        <p:spPr>
          <a:xfrm>
            <a:off x="3724800" y="1320000"/>
            <a:ext cx="1694400" cy="90000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913" name="T913"/>
          <p:cNvSpPr txBox="1"/>
          <p:nvPr/>
        </p:nvSpPr>
        <p:spPr>
          <a:xfrm>
            <a:off x="3724800" y="1358000"/>
            <a:ext cx="1694400" cy="2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ctr" fontAlgn="base">
              <a:lnSpc>
                <a:spcPts val="15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2000" b="1" kern="100" dirty="0">
                <a:solidFill>
                  <a:srgbClr val="8B6914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03</a:t>
            </a:r>
          </a:p>
        </p:txBody>
      </p:sp>
      <p:sp>
        <p:nvSpPr>
          <p:cNvPr id="914" name="T914"/>
          <p:cNvSpPr txBox="1"/>
          <p:nvPr/>
        </p:nvSpPr>
        <p:spPr>
          <a:xfrm>
            <a:off x="3734800" y="1279341"/>
            <a:ext cx="1634400" cy="5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ctr" fontAlgn="base">
              <a:lnSpc>
                <a:spcPts val="135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98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Supabase Edge Function calls Brevo REST API — 6-digit OTP delivered via email (5 min expiry)</a:t>
            </a:r>
          </a:p>
        </p:txBody>
      </p:sp>
      <p:sp>
        <p:nvSpPr>
          <p:cNvPr id="915" name="T915"/>
          <p:cNvSpPr txBox="1"/>
          <p:nvPr/>
        </p:nvSpPr>
        <p:spPr>
          <a:xfrm>
            <a:off x="5384200" y="1670000"/>
            <a:ext cx="140000" cy="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ctr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100" b="1" kern="100" dirty="0">
                <a:solidFill>
                  <a:srgbClr val="8B6914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▶</a:t>
            </a:r>
          </a:p>
        </p:txBody>
      </p:sp>
      <p:sp>
        <p:nvSpPr>
          <p:cNvPr id="916" name="R916"/>
          <p:cNvSpPr>
            <a:spLocks noGrp="1"/>
          </p:cNvSpPr>
          <p:nvPr/>
        </p:nvSpPr>
        <p:spPr>
          <a:xfrm>
            <a:off x="5489200" y="1320000"/>
            <a:ext cx="1694400" cy="900000"/>
          </a:xfrm>
          <a:prstGeom prst="rect">
            <a:avLst/>
          </a:prstGeom>
          <a:solidFill>
            <a:srgbClr val="EDFAF3"/>
          </a:solidFill>
          <a:ln w="19050">
            <a:solidFill>
              <a:srgbClr val="1A7A4A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917" name="R917"/>
          <p:cNvSpPr>
            <a:spLocks noGrp="1"/>
          </p:cNvSpPr>
          <p:nvPr/>
        </p:nvSpPr>
        <p:spPr>
          <a:xfrm>
            <a:off x="5489200" y="1320000"/>
            <a:ext cx="1694400" cy="9000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918" name="T918"/>
          <p:cNvSpPr txBox="1"/>
          <p:nvPr/>
        </p:nvSpPr>
        <p:spPr>
          <a:xfrm>
            <a:off x="5489200" y="1358000"/>
            <a:ext cx="1694400" cy="2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ctr" fontAlgn="base">
              <a:lnSpc>
                <a:spcPts val="15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2000" b="1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04</a:t>
            </a:r>
          </a:p>
        </p:txBody>
      </p:sp>
      <p:sp>
        <p:nvSpPr>
          <p:cNvPr id="919" name="T919"/>
          <p:cNvSpPr txBox="1"/>
          <p:nvPr/>
        </p:nvSpPr>
        <p:spPr>
          <a:xfrm>
            <a:off x="5514200" y="1258821"/>
            <a:ext cx="1634400" cy="5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ctr" fontAlgn="base">
              <a:lnSpc>
                <a:spcPts val="135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98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Single-use OTP verified server-side by Edge Function — expired/invalid OTPs rejected</a:t>
            </a:r>
          </a:p>
        </p:txBody>
      </p:sp>
      <p:sp>
        <p:nvSpPr>
          <p:cNvPr id="920" name="T920"/>
          <p:cNvSpPr txBox="1"/>
          <p:nvPr/>
        </p:nvSpPr>
        <p:spPr>
          <a:xfrm>
            <a:off x="7148600" y="1670000"/>
            <a:ext cx="140000" cy="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ctr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100" b="1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▶</a:t>
            </a:r>
          </a:p>
        </p:txBody>
      </p:sp>
      <p:sp>
        <p:nvSpPr>
          <p:cNvPr id="921" name="R921"/>
          <p:cNvSpPr>
            <a:spLocks noGrp="1"/>
          </p:cNvSpPr>
          <p:nvPr/>
        </p:nvSpPr>
        <p:spPr>
          <a:xfrm>
            <a:off x="7253600" y="1320000"/>
            <a:ext cx="1694400" cy="900000"/>
          </a:xfrm>
          <a:prstGeom prst="rect">
            <a:avLst/>
          </a:prstGeom>
          <a:solidFill>
            <a:srgbClr val="FFF5F5"/>
          </a:solidFill>
          <a:ln w="19050">
            <a:solidFill>
              <a:srgbClr val="C0000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922" name="R922"/>
          <p:cNvSpPr>
            <a:spLocks noGrp="1"/>
          </p:cNvSpPr>
          <p:nvPr/>
        </p:nvSpPr>
        <p:spPr>
          <a:xfrm>
            <a:off x="7253600" y="1320000"/>
            <a:ext cx="1694400" cy="90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923" name="T923"/>
          <p:cNvSpPr txBox="1"/>
          <p:nvPr/>
        </p:nvSpPr>
        <p:spPr>
          <a:xfrm>
            <a:off x="7253600" y="1358000"/>
            <a:ext cx="1694400" cy="2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ctr" fontAlgn="base">
              <a:lnSpc>
                <a:spcPts val="15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2000" b="1" kern="100" dirty="0">
                <a:solidFill>
                  <a:srgbClr val="C00000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05</a:t>
            </a:r>
          </a:p>
        </p:txBody>
      </p:sp>
      <p:sp>
        <p:nvSpPr>
          <p:cNvPr id="924" name="T924"/>
          <p:cNvSpPr txBox="1"/>
          <p:nvPr/>
        </p:nvSpPr>
        <p:spPr>
          <a:xfrm>
            <a:off x="7268808" y="1334660"/>
            <a:ext cx="1634400" cy="5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ctr" fontAlgn="base">
              <a:lnSpc>
                <a:spcPts val="135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98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Supabase JWT issued with role payload — admin lands on role-specific dashboard</a:t>
            </a:r>
          </a:p>
        </p:txBody>
      </p:sp>
      <p:sp>
        <p:nvSpPr>
          <p:cNvPr id="925" name="R925"/>
          <p:cNvSpPr>
            <a:spLocks noGrp="1"/>
          </p:cNvSpPr>
          <p:nvPr/>
        </p:nvSpPr>
        <p:spPr>
          <a:xfrm>
            <a:off x="196000" y="2199999"/>
            <a:ext cx="4331000" cy="3929999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926" name="R926"/>
          <p:cNvSpPr>
            <a:spLocks noGrp="1"/>
          </p:cNvSpPr>
          <p:nvPr/>
        </p:nvSpPr>
        <p:spPr>
          <a:xfrm>
            <a:off x="195999" y="2199999"/>
            <a:ext cx="45719" cy="3907331"/>
          </a:xfrm>
          <a:prstGeom prst="rect">
            <a:avLst/>
          </a:prstGeom>
          <a:solidFill>
            <a:srgbClr val="0060A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927" name="T927"/>
          <p:cNvSpPr txBox="1"/>
          <p:nvPr/>
        </p:nvSpPr>
        <p:spPr>
          <a:xfrm>
            <a:off x="227500" y="2248865"/>
            <a:ext cx="4331000" cy="39475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l" fontAlgn="base">
              <a:lnSpc>
                <a:spcPts val="17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2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Role-Based Access Control</a:t>
            </a:r>
          </a:p>
          <a:p>
            <a:pPr marL="0" marR="0" algn="l" fontAlgn="base">
              <a:lnSpc>
                <a:spcPts val="1500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rPr lang="en-US" sz="1100" b="1" kern="100" dirty="0">
                <a:solidFill>
                  <a:srgbClr val="C00000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Super Admin</a:t>
            </a:r>
          </a:p>
          <a:p>
            <a:pPr marL="320000" marR="0" algn="l" fontAlgn="base">
              <a:lnSpc>
                <a:spcPts val="1500"/>
              </a:lnSpc>
              <a:spcBef>
                <a:spcPts val="65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Full access to all </a:t>
            </a:r>
            <a:r>
              <a:rPr lang="en-US" sz="1050" kern="100" dirty="0">
                <a:solidFill>
                  <a:srgbClr val="2D3748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36</a:t>
            </a: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+ modules — audit logs, certificate manager, admin management.</a:t>
            </a:r>
            <a:endParaRPr lang="en-US" sz="1100" kern="100" dirty="0">
              <a:solidFill>
                <a:srgbClr val="2D3748"/>
              </a:solidFill>
              <a:effectLst/>
              <a:latin typeface="Verdana" pitchFamily="34" charset="0"/>
              <a:ea typeface="Calibri" pitchFamily="34" charset="0"/>
              <a:cs typeface="Calibri" pitchFamily="34" charset="0"/>
            </a:endParaRPr>
          </a:p>
          <a:p>
            <a:pPr marL="0" marR="0" algn="l" fontAlgn="base">
              <a:lnSpc>
                <a:spcPct val="150000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rPr lang="en-US" sz="1100" b="1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HR Admin</a:t>
            </a:r>
          </a:p>
          <a:p>
            <a:pPr marL="320000" fontAlgn="base">
              <a:lnSpc>
                <a:spcPts val="1500"/>
              </a:lnSpc>
              <a:spcBef>
                <a:spcPts val="65"/>
              </a:spcBef>
              <a:buChar char="▸"/>
            </a:pPr>
            <a:r>
              <a:rPr lang="en-US" sz="1050" kern="100" dirty="0">
                <a:solidFill>
                  <a:srgbClr val="2D3748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HR Dashboard, Employee Management, leave records &amp; intern tracking.</a:t>
            </a:r>
          </a:p>
          <a:p>
            <a:pPr fontAlgn="base">
              <a:lnSpc>
                <a:spcPct val="150000"/>
              </a:lnSpc>
              <a:spcBef>
                <a:spcPts val="90"/>
              </a:spcBef>
            </a:pPr>
            <a:r>
              <a:rPr lang="en-US" sz="1100" b="1" kern="100" dirty="0">
                <a:solidFill>
                  <a:srgbClr val="0070C0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Esports Admin</a:t>
            </a:r>
          </a:p>
          <a:p>
            <a:pPr marL="320000" fontAlgn="base">
              <a:lnSpc>
                <a:spcPts val="1500"/>
              </a:lnSpc>
              <a:spcBef>
                <a:spcPts val="65"/>
              </a:spcBef>
              <a:buChar char="▸"/>
            </a:pPr>
            <a:r>
              <a:rPr lang="en-US" sz="1050" kern="100" dirty="0">
                <a:solidFill>
                  <a:srgbClr val="2D3748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Manages esports tournaments, handles cash prizes and executes all backend tasks.</a:t>
            </a:r>
          </a:p>
          <a:p>
            <a:pPr fontAlgn="base">
              <a:lnSpc>
                <a:spcPct val="150000"/>
              </a:lnSpc>
              <a:spcBef>
                <a:spcPts val="90"/>
              </a:spcBef>
            </a:pPr>
            <a:r>
              <a:rPr lang="en-US" sz="1100" b="1" kern="100" dirty="0">
                <a:solidFill>
                  <a:srgbClr val="FFC000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Tech Admin</a:t>
            </a:r>
          </a:p>
          <a:p>
            <a:pPr marL="320000" fontAlgn="base">
              <a:lnSpc>
                <a:spcPts val="1500"/>
              </a:lnSpc>
              <a:spcBef>
                <a:spcPts val="65"/>
              </a:spcBef>
              <a:buChar char="▸"/>
            </a:pPr>
            <a:r>
              <a:rPr lang="en-US" sz="1050" kern="100" dirty="0">
                <a:solidFill>
                  <a:srgbClr val="2D3748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Tech logs updates, daily logs update and technical work related to the website.</a:t>
            </a:r>
          </a:p>
          <a:p>
            <a:pPr fontAlgn="base">
              <a:lnSpc>
                <a:spcPct val="150000"/>
              </a:lnSpc>
              <a:spcBef>
                <a:spcPts val="90"/>
              </a:spcBef>
            </a:pPr>
            <a:r>
              <a:rPr lang="en-US" sz="1100" b="1" kern="100" dirty="0">
                <a:solidFill>
                  <a:srgbClr val="1A7A4A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Social Media/Content Admin</a:t>
            </a:r>
          </a:p>
          <a:p>
            <a:pPr marL="320000" fontAlgn="base">
              <a:lnSpc>
                <a:spcPts val="1500"/>
              </a:lnSpc>
              <a:spcBef>
                <a:spcPts val="65"/>
              </a:spcBef>
              <a:buChar char="▸"/>
            </a:pPr>
            <a:r>
              <a:rPr lang="en-US" sz="1050" kern="100" dirty="0">
                <a:solidFill>
                  <a:srgbClr val="2D3748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Social media Dashboard, Logs update and keep track of all social media analytics. </a:t>
            </a:r>
          </a:p>
          <a:p>
            <a:pPr marL="320000" fontAlgn="base">
              <a:lnSpc>
                <a:spcPts val="1500"/>
              </a:lnSpc>
              <a:spcBef>
                <a:spcPts val="65"/>
              </a:spcBef>
              <a:buChar char="▸"/>
            </a:pPr>
            <a:r>
              <a:rPr lang="en-US" sz="1050" kern="100" dirty="0">
                <a:solidFill>
                  <a:srgbClr val="2D3748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Helps with promotional media, directs and shoots the promotional content for the company.</a:t>
            </a:r>
          </a:p>
        </p:txBody>
      </p:sp>
      <p:sp>
        <p:nvSpPr>
          <p:cNvPr id="928" name="R928"/>
          <p:cNvSpPr>
            <a:spLocks noGrp="1"/>
          </p:cNvSpPr>
          <p:nvPr/>
        </p:nvSpPr>
        <p:spPr>
          <a:xfrm>
            <a:off x="4617000" y="2200000"/>
            <a:ext cx="4331000" cy="366000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929" name="R929"/>
          <p:cNvSpPr>
            <a:spLocks noGrp="1"/>
          </p:cNvSpPr>
          <p:nvPr/>
        </p:nvSpPr>
        <p:spPr>
          <a:xfrm>
            <a:off x="4617000" y="2200000"/>
            <a:ext cx="40000" cy="366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930" name="T930"/>
          <p:cNvSpPr txBox="1"/>
          <p:nvPr/>
        </p:nvSpPr>
        <p:spPr>
          <a:xfrm>
            <a:off x="4675000" y="2255000"/>
            <a:ext cx="4228000" cy="193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l" fontAlgn="base">
              <a:lnSpc>
                <a:spcPts val="17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400" b="1" kern="100" dirty="0">
                <a:solidFill>
                  <a:srgbClr val="00336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Security Architecture</a:t>
            </a:r>
          </a:p>
          <a:p>
            <a:pPr marL="0" algn="l" fontAlgn="base">
              <a:lnSpc>
                <a:spcPts val="145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Passwords Stored: </a:t>
            </a:r>
            <a:r>
              <a:rPr lang="en-US" sz="1100" b="1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None — ever</a:t>
            </a:r>
          </a:p>
          <a:p>
            <a:pPr marL="0" algn="l" fontAlgn="base">
              <a:lnSpc>
                <a:spcPts val="145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Auth Method: </a:t>
            </a:r>
            <a:r>
              <a:rPr lang="en-US" sz="11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6-digit OTP via Brevo API email</a:t>
            </a:r>
          </a:p>
          <a:p>
            <a:pPr marL="0" algn="l" fontAlgn="base">
              <a:lnSpc>
                <a:spcPts val="145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OTP Expiry: </a:t>
            </a:r>
            <a:r>
              <a:rPr lang="en-US" sz="1100" b="1" kern="100" dirty="0">
                <a:solidFill>
                  <a:srgbClr val="8B6914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1</a:t>
            </a:r>
            <a:r>
              <a:rPr lang="en-US" sz="1100" b="1" kern="100" dirty="0">
                <a:solidFill>
                  <a:srgbClr val="8B6914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 minutes, single-use only</a:t>
            </a:r>
          </a:p>
          <a:p>
            <a:pPr marL="0" algn="l" fontAlgn="base">
              <a:lnSpc>
                <a:spcPts val="145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Session Token: </a:t>
            </a:r>
            <a:r>
              <a:rPr lang="en-US" sz="11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Supabase JWT with role payload</a:t>
            </a:r>
          </a:p>
          <a:p>
            <a:pPr marL="0" algn="l" fontAlgn="base">
              <a:lnSpc>
                <a:spcPts val="145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DB Security: </a:t>
            </a:r>
            <a:r>
              <a:rPr lang="en-US" sz="1100" b="1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Row-Level Security on ALL tables</a:t>
            </a:r>
          </a:p>
          <a:p>
            <a:pPr marL="0" algn="l" fontAlgn="base">
              <a:lnSpc>
                <a:spcPts val="145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Location Audit: </a:t>
            </a:r>
            <a:r>
              <a:rPr lang="en-US" sz="11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Lat / Long / City / IP per login</a:t>
            </a:r>
          </a:p>
          <a:p>
            <a:pPr marL="0" algn="l" fontAlgn="base">
              <a:lnSpc>
                <a:spcPts val="145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OTP Delivery: </a:t>
            </a:r>
            <a:r>
              <a:rPr lang="en-US" sz="11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Brevo Transactional REST API</a:t>
            </a:r>
          </a:p>
          <a:p>
            <a:pPr marL="0" algn="l" fontAlgn="base">
              <a:lnSpc>
                <a:spcPts val="145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Edge Runtime: </a:t>
            </a:r>
            <a:r>
              <a:rPr lang="en-US" sz="11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Supabase Edge Functions (Deno)</a:t>
            </a:r>
          </a:p>
        </p:txBody>
      </p:sp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CBE56-1D41-7167-8FFB-A09C6DDBB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FB3A7BE-7862-048E-951C-86CFD388A5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F1F4E46-D933-954B-D887-0C743D7A6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133" y="100424"/>
            <a:ext cx="828092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 Module Map — </a:t>
            </a:r>
            <a:r>
              <a:rPr lang="en-US" sz="3200" b="1" kern="1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36</a:t>
            </a: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+ Live Modules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F222086-A20A-7049-0744-A17C1E596D3B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926CD72-25A6-86DC-34B2-F6A291749F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FC27A688-8646-DB1F-FAA1-AE2FA9844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01" name="R1001"/>
          <p:cNvSpPr>
            <a:spLocks noGrp="1"/>
          </p:cNvSpPr>
          <p:nvPr/>
        </p:nvSpPr>
        <p:spPr>
          <a:xfrm>
            <a:off x="196000" y="1320000"/>
            <a:ext cx="8752000" cy="88800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002" name="R1002"/>
          <p:cNvSpPr>
            <a:spLocks noGrp="1"/>
          </p:cNvSpPr>
          <p:nvPr/>
        </p:nvSpPr>
        <p:spPr>
          <a:xfrm>
            <a:off x="196000" y="1320000"/>
            <a:ext cx="40000" cy="888000"/>
          </a:xfrm>
          <a:prstGeom prst="rect">
            <a:avLst/>
          </a:prstGeom>
          <a:solidFill>
            <a:srgbClr val="0060A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03" name="T1003"/>
          <p:cNvSpPr txBox="1"/>
          <p:nvPr/>
        </p:nvSpPr>
        <p:spPr>
          <a:xfrm>
            <a:off x="254000" y="1375000"/>
            <a:ext cx="8649000" cy="6775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l" fontAlgn="base">
              <a:lnSpc>
                <a:spcPts val="16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135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All Users — 7 Modules</a:t>
            </a:r>
          </a:p>
          <a:p>
            <a:pPr marL="0" marR="0" algn="l" fontAlgn="base">
              <a:lnSpc>
                <a:spcPts val="15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150" kern="100" dirty="0">
                <a:solidFill>
                  <a:srgbClr val="4A556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Overview Stats · Attendance Tracker · Leave Management · Task Board (Kanban) · Daily Standups · Company Directory</a:t>
            </a:r>
          </a:p>
        </p:txBody>
      </p:sp>
      <p:sp>
        <p:nvSpPr>
          <p:cNvPr id="1004" name="R1004"/>
          <p:cNvSpPr>
            <a:spLocks noGrp="1"/>
          </p:cNvSpPr>
          <p:nvPr/>
        </p:nvSpPr>
        <p:spPr>
          <a:xfrm>
            <a:off x="196000" y="2243000"/>
            <a:ext cx="8752000" cy="888000"/>
          </a:xfrm>
          <a:prstGeom prst="rect">
            <a:avLst/>
          </a:prstGeom>
          <a:solidFill>
            <a:srgbClr val="FFF5F5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005" name="R1005"/>
          <p:cNvSpPr>
            <a:spLocks noGrp="1"/>
          </p:cNvSpPr>
          <p:nvPr/>
        </p:nvSpPr>
        <p:spPr>
          <a:xfrm>
            <a:off x="196000" y="2243000"/>
            <a:ext cx="40000" cy="88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06" name="T1006"/>
          <p:cNvSpPr txBox="1"/>
          <p:nvPr/>
        </p:nvSpPr>
        <p:spPr>
          <a:xfrm>
            <a:off x="254000" y="2298000"/>
            <a:ext cx="8649000" cy="6775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l" fontAlgn="base">
              <a:lnSpc>
                <a:spcPts val="16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1350" b="1" kern="100" dirty="0">
                <a:solidFill>
                  <a:srgbClr val="C00000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Super Admin — 13 Modules</a:t>
            </a:r>
          </a:p>
          <a:p>
            <a:pPr marL="0" marR="0" algn="l" fontAlgn="base">
              <a:lnSpc>
                <a:spcPts val="15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150" kern="100" dirty="0">
                <a:solidFill>
                  <a:srgbClr val="4A556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Certificate Manager · Internship Tracker · Admin Management · Bulk Upload · Audit Logs · Admin Reports · Holiday Calendar · Announcements · Career Applications · Birthday Reminders · Meeting Notes · Expense Claims</a:t>
            </a:r>
          </a:p>
        </p:txBody>
      </p:sp>
      <p:sp>
        <p:nvSpPr>
          <p:cNvPr id="1007" name="R1007"/>
          <p:cNvSpPr>
            <a:spLocks noGrp="1"/>
          </p:cNvSpPr>
          <p:nvPr/>
        </p:nvSpPr>
        <p:spPr>
          <a:xfrm>
            <a:off x="196000" y="3166000"/>
            <a:ext cx="8752000" cy="888000"/>
          </a:xfrm>
          <a:prstGeom prst="rect">
            <a:avLst/>
          </a:prstGeom>
          <a:solidFill>
            <a:srgbClr val="EDFAF3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008" name="R1008"/>
          <p:cNvSpPr>
            <a:spLocks noGrp="1"/>
          </p:cNvSpPr>
          <p:nvPr/>
        </p:nvSpPr>
        <p:spPr>
          <a:xfrm>
            <a:off x="196000" y="3166000"/>
            <a:ext cx="40000" cy="8880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09" name="T1009"/>
          <p:cNvSpPr txBox="1"/>
          <p:nvPr/>
        </p:nvSpPr>
        <p:spPr>
          <a:xfrm>
            <a:off x="254000" y="3221000"/>
            <a:ext cx="8649000" cy="6775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l" fontAlgn="base">
              <a:lnSpc>
                <a:spcPts val="16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1350" b="1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HR Admin — 4 Modules</a:t>
            </a:r>
          </a:p>
          <a:p>
            <a:pPr marL="0" marR="0" algn="l" fontAlgn="base">
              <a:lnSpc>
                <a:spcPts val="15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150" kern="100" dirty="0">
                <a:solidFill>
                  <a:srgbClr val="4A556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HR Dashboard (people analytics, RBAC, 142 employee data)   ·   Employee Management (Aadhaar, PAN, offer letters, docs)</a:t>
            </a:r>
          </a:p>
        </p:txBody>
      </p:sp>
      <p:sp>
        <p:nvSpPr>
          <p:cNvPr id="1010" name="R1010"/>
          <p:cNvSpPr>
            <a:spLocks noGrp="1"/>
          </p:cNvSpPr>
          <p:nvPr/>
        </p:nvSpPr>
        <p:spPr>
          <a:xfrm>
            <a:off x="196000" y="4089000"/>
            <a:ext cx="8752000" cy="88800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011" name="R1011"/>
          <p:cNvSpPr>
            <a:spLocks noGrp="1"/>
          </p:cNvSpPr>
          <p:nvPr/>
        </p:nvSpPr>
        <p:spPr>
          <a:xfrm>
            <a:off x="196000" y="4089000"/>
            <a:ext cx="40000" cy="888000"/>
          </a:xfrm>
          <a:prstGeom prst="rect">
            <a:avLst/>
          </a:prstGeom>
          <a:solidFill>
            <a:srgbClr val="0097D4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12" name="T1012"/>
          <p:cNvSpPr txBox="1"/>
          <p:nvPr/>
        </p:nvSpPr>
        <p:spPr>
          <a:xfrm>
            <a:off x="254000" y="4144000"/>
            <a:ext cx="8649000" cy="6775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l" fontAlgn="base">
              <a:lnSpc>
                <a:spcPts val="16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1350" b="1" kern="100" dirty="0">
                <a:solidFill>
                  <a:srgbClr val="0097D4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Live / Realtime — 8 Modules</a:t>
            </a:r>
          </a:p>
          <a:p>
            <a:pPr marL="0" marR="0" algn="l" fontAlgn="base">
              <a:lnSpc>
                <a:spcPts val="15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150" kern="100" dirty="0">
                <a:solidFill>
                  <a:srgbClr val="4A556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Real-Time Team Chat (WebSocket) · Analytics Dashboard · Notification Center · Polls &amp; Surveys · Team Events · Performance Scores · Company Links</a:t>
            </a:r>
          </a:p>
        </p:txBody>
      </p:sp>
      <p:sp>
        <p:nvSpPr>
          <p:cNvPr id="1013" name="R1013"/>
          <p:cNvSpPr>
            <a:spLocks noGrp="1"/>
          </p:cNvSpPr>
          <p:nvPr/>
        </p:nvSpPr>
        <p:spPr>
          <a:xfrm>
            <a:off x="196000" y="5012000"/>
            <a:ext cx="8752000" cy="888000"/>
          </a:xfrm>
          <a:prstGeom prst="rect">
            <a:avLst/>
          </a:prstGeom>
          <a:solidFill>
            <a:srgbClr val="FFFBEB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014" name="R1014"/>
          <p:cNvSpPr>
            <a:spLocks noGrp="1"/>
          </p:cNvSpPr>
          <p:nvPr/>
        </p:nvSpPr>
        <p:spPr>
          <a:xfrm>
            <a:off x="196000" y="5012000"/>
            <a:ext cx="40000" cy="88800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15" name="T1015"/>
          <p:cNvSpPr txBox="1"/>
          <p:nvPr/>
        </p:nvSpPr>
        <p:spPr>
          <a:xfrm>
            <a:off x="254000" y="5067000"/>
            <a:ext cx="8649000" cy="6775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l" fontAlgn="base">
              <a:lnSpc>
                <a:spcPts val="16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1350" b="1" kern="100" dirty="0">
                <a:solidFill>
                  <a:srgbClr val="8B6914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Payments &amp; Files — 4 Modules</a:t>
            </a:r>
          </a:p>
          <a:p>
            <a:pPr marL="0" marR="0" algn="l" fontAlgn="base">
              <a:lnSpc>
                <a:spcPts val="15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150" kern="100" dirty="0">
                <a:solidFill>
                  <a:srgbClr val="4A556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Payment Verification (UPI QR + admin approval)   ·   File &amp; Media Manager (50GB, preview, share)   ·   Quick Notes</a:t>
            </a:r>
          </a:p>
        </p:txBody>
      </p:sp>
    </p:spTree>
    <p:extLst>
      <p:ext uri="{BB962C8B-B14F-4D97-AF65-F5344CB8AC3E}">
        <p14:creationId xmlns:p14="http://schemas.microsoft.com/office/powerpoint/2010/main" val="292643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D42DB-FF71-D8E6-630F-399C60C5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FB631E-E469-C80D-C58A-99E545F37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B6D9598-AD90-B9CA-8610-998CE22F1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2D34C-9176-DD2A-8AAF-507BD46BD71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066F8A4-300F-9AE0-4A5E-2A2D19A8A5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3A55479-5820-9331-B8CC-0F9A13C7AC18}"/>
                  </a:ext>
                </a:extLst>
              </p14:cNvPr>
              <p14:cNvContentPartPr/>
              <p14:nvPr/>
            </p14:nvContentPartPr>
            <p14:xfrm>
              <a:off x="7203160" y="2489200"/>
              <a:ext cx="484560" cy="34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3A55479-5820-9331-B8CC-0F9A13C7AC1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40520" y="2426200"/>
                <a:ext cx="610200" cy="160560"/>
              </a:xfrm>
              <a:prstGeom prst="rect">
                <a:avLst/>
              </a:prstGeom>
            </p:spPr>
          </p:pic>
        </mc:Fallback>
      </mc:AlternateContent>
      <p:sp>
        <p:nvSpPr>
          <p:cNvPr id="1101" name="R1101"/>
          <p:cNvSpPr>
            <a:spLocks noGrp="1"/>
          </p:cNvSpPr>
          <p:nvPr/>
        </p:nvSpPr>
        <p:spPr>
          <a:xfrm>
            <a:off x="196000" y="1320000"/>
            <a:ext cx="8072000" cy="892000"/>
          </a:xfrm>
          <a:prstGeom prst="rect">
            <a:avLst/>
          </a:prstGeom>
          <a:solidFill>
            <a:srgbClr val="EDFAF3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102" name="R1102"/>
          <p:cNvSpPr>
            <a:spLocks noGrp="1"/>
          </p:cNvSpPr>
          <p:nvPr/>
        </p:nvSpPr>
        <p:spPr>
          <a:xfrm>
            <a:off x="196000" y="1320000"/>
            <a:ext cx="40000" cy="8920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103" name="T1103"/>
          <p:cNvSpPr txBox="1"/>
          <p:nvPr/>
        </p:nvSpPr>
        <p:spPr>
          <a:xfrm>
            <a:off x="254000" y="1375000"/>
            <a:ext cx="7969000" cy="8813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l" fontAlgn="base">
              <a:lnSpc>
                <a:spcPts val="16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250" b="1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Phase 1 — Foundation (Month 1)</a:t>
            </a:r>
          </a:p>
          <a:p>
            <a:pPr marL="0" marR="0" algn="l" fontAlgn="base">
              <a:lnSpc>
                <a:spcPts val="145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100" kern="100" dirty="0">
                <a:solidFill>
                  <a:srgbClr val="4A556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Vite + React 18 + TypeScript 5 + Tailwind + Shadcn/UI. Supabase schema &amp; RLS. OTP auth pipeline (Brevo API). Edge Functions for send-otp &amp; verify-</a:t>
            </a:r>
            <a:r>
              <a:rPr lang="en-US" sz="1100" kern="100" dirty="0" err="1">
                <a:solidFill>
                  <a:srgbClr val="4A556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otp</a:t>
            </a:r>
            <a:r>
              <a:rPr lang="en-US" sz="1100" kern="100" dirty="0">
                <a:solidFill>
                  <a:srgbClr val="4A556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.</a:t>
            </a:r>
          </a:p>
          <a:p>
            <a:pPr marL="0" marR="0" algn="l" fontAlgn="base">
              <a:lnSpc>
                <a:spcPts val="1450"/>
              </a:lnSpc>
              <a:spcBef>
                <a:spcPts val="50"/>
              </a:spcBef>
              <a:spcAft>
                <a:spcPts val="0"/>
              </a:spcAft>
              <a:buNone/>
            </a:pPr>
            <a:endParaRPr lang="en-US" sz="1100" kern="100" dirty="0">
              <a:solidFill>
                <a:srgbClr val="4A5568"/>
              </a:solidFill>
              <a:effectLst/>
              <a:latin typeface="Verdana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104" name="R1104"/>
          <p:cNvSpPr>
            <a:spLocks noGrp="1"/>
          </p:cNvSpPr>
          <p:nvPr/>
        </p:nvSpPr>
        <p:spPr>
          <a:xfrm>
            <a:off x="8308000" y="1320000"/>
            <a:ext cx="600000" cy="892000"/>
          </a:xfrm>
          <a:prstGeom prst="rect">
            <a:avLst/>
          </a:prstGeom>
          <a:solidFill>
            <a:srgbClr val="F7FAFC"/>
          </a:solidFill>
          <a:ln w="19050">
            <a:solidFill>
              <a:srgbClr val="1A7A4A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105" name="T1105"/>
          <p:cNvSpPr txBox="1"/>
          <p:nvPr/>
        </p:nvSpPr>
        <p:spPr>
          <a:xfrm>
            <a:off x="8308000" y="1350000"/>
            <a:ext cx="600000" cy="8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ctr" fontAlgn="base">
              <a:lnSpc>
                <a:spcPts val="16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1400" b="1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100%</a:t>
            </a:r>
          </a:p>
          <a:p>
            <a:pPr marL="0" marR="0" algn="ctr" fontAlgn="base">
              <a:lnSpc>
                <a:spcPts val="16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900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✅ Done</a:t>
            </a:r>
          </a:p>
        </p:txBody>
      </p:sp>
      <p:sp>
        <p:nvSpPr>
          <p:cNvPr id="1106" name="R1106"/>
          <p:cNvSpPr>
            <a:spLocks noGrp="1"/>
          </p:cNvSpPr>
          <p:nvPr/>
        </p:nvSpPr>
        <p:spPr>
          <a:xfrm>
            <a:off x="196000" y="2242000"/>
            <a:ext cx="8072000" cy="892000"/>
          </a:xfrm>
          <a:prstGeom prst="rect">
            <a:avLst/>
          </a:prstGeom>
          <a:solidFill>
            <a:srgbClr val="EDFAF3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107" name="R1107"/>
          <p:cNvSpPr>
            <a:spLocks noGrp="1"/>
          </p:cNvSpPr>
          <p:nvPr/>
        </p:nvSpPr>
        <p:spPr>
          <a:xfrm>
            <a:off x="196000" y="2242000"/>
            <a:ext cx="40000" cy="8920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108" name="T1108"/>
          <p:cNvSpPr txBox="1"/>
          <p:nvPr/>
        </p:nvSpPr>
        <p:spPr>
          <a:xfrm>
            <a:off x="254000" y="2297000"/>
            <a:ext cx="7969000" cy="6762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l" fontAlgn="base">
              <a:lnSpc>
                <a:spcPts val="16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250" b="1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Phase 2 — Core Modules (Month 2)</a:t>
            </a:r>
          </a:p>
          <a:p>
            <a:pPr marL="0" marR="0" algn="l" fontAlgn="base">
              <a:lnSpc>
                <a:spcPts val="145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100" kern="100" dirty="0">
                <a:solidFill>
                  <a:srgbClr val="4A556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Dashboard, Attendance Tracker, Leave Management, Task Board &amp; Daily Standups. HR modules: Employee Management, HR Dashboard, Internship Tracker.</a:t>
            </a:r>
          </a:p>
        </p:txBody>
      </p:sp>
      <p:sp>
        <p:nvSpPr>
          <p:cNvPr id="1109" name="R1109"/>
          <p:cNvSpPr>
            <a:spLocks noGrp="1"/>
          </p:cNvSpPr>
          <p:nvPr/>
        </p:nvSpPr>
        <p:spPr>
          <a:xfrm>
            <a:off x="8308000" y="2242000"/>
            <a:ext cx="600000" cy="892000"/>
          </a:xfrm>
          <a:prstGeom prst="rect">
            <a:avLst/>
          </a:prstGeom>
          <a:solidFill>
            <a:srgbClr val="F7FAFC"/>
          </a:solidFill>
          <a:ln w="19050">
            <a:solidFill>
              <a:srgbClr val="1A7A4A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110" name="T1110"/>
          <p:cNvSpPr txBox="1"/>
          <p:nvPr/>
        </p:nvSpPr>
        <p:spPr>
          <a:xfrm>
            <a:off x="8308000" y="2272000"/>
            <a:ext cx="600000" cy="8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ctr" fontAlgn="base">
              <a:lnSpc>
                <a:spcPts val="16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1400" b="1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100%</a:t>
            </a:r>
          </a:p>
          <a:p>
            <a:pPr marL="0" marR="0" algn="ctr" fontAlgn="base">
              <a:lnSpc>
                <a:spcPts val="16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900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✅ Done</a:t>
            </a:r>
          </a:p>
        </p:txBody>
      </p:sp>
      <p:sp>
        <p:nvSpPr>
          <p:cNvPr id="1111" name="R1111"/>
          <p:cNvSpPr>
            <a:spLocks noGrp="1"/>
          </p:cNvSpPr>
          <p:nvPr/>
        </p:nvSpPr>
        <p:spPr>
          <a:xfrm>
            <a:off x="196000" y="3164000"/>
            <a:ext cx="8072000" cy="892000"/>
          </a:xfrm>
          <a:prstGeom prst="rect">
            <a:avLst/>
          </a:prstGeom>
          <a:solidFill>
            <a:srgbClr val="FFFBEB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112" name="R1112"/>
          <p:cNvSpPr>
            <a:spLocks noGrp="1"/>
          </p:cNvSpPr>
          <p:nvPr/>
        </p:nvSpPr>
        <p:spPr>
          <a:xfrm>
            <a:off x="196000" y="3164000"/>
            <a:ext cx="40000" cy="89200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113" name="T1113"/>
          <p:cNvSpPr txBox="1"/>
          <p:nvPr/>
        </p:nvSpPr>
        <p:spPr>
          <a:xfrm>
            <a:off x="254000" y="3219000"/>
            <a:ext cx="7969000" cy="6762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l" fontAlgn="base">
              <a:lnSpc>
                <a:spcPts val="16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250" b="1" kern="100" dirty="0">
                <a:solidFill>
                  <a:srgbClr val="8B6914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Phase 3 — Advanced Features (Month </a:t>
            </a:r>
            <a:r>
              <a:rPr lang="en-US" sz="1250" b="1" kern="100" dirty="0">
                <a:solidFill>
                  <a:srgbClr val="8B6914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2</a:t>
            </a:r>
            <a:r>
              <a:rPr lang="en-US" sz="1250" b="1" kern="100" dirty="0">
                <a:solidFill>
                  <a:srgbClr val="8B6914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–3)</a:t>
            </a:r>
          </a:p>
          <a:p>
            <a:pPr marL="0" marR="0" algn="l" fontAlgn="base">
              <a:lnSpc>
                <a:spcPts val="145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100" kern="100" dirty="0">
                <a:solidFill>
                  <a:srgbClr val="4A556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Esports Players, Social Media Analytics, Tech &amp; Content Dashboards. Certificate Manager, Audit Logs, Admin Management, Bulk Upload module.</a:t>
            </a:r>
          </a:p>
        </p:txBody>
      </p:sp>
      <p:sp>
        <p:nvSpPr>
          <p:cNvPr id="1114" name="R1114"/>
          <p:cNvSpPr>
            <a:spLocks noGrp="1"/>
          </p:cNvSpPr>
          <p:nvPr/>
        </p:nvSpPr>
        <p:spPr>
          <a:xfrm>
            <a:off x="8308000" y="3164000"/>
            <a:ext cx="600000" cy="892000"/>
          </a:xfrm>
          <a:prstGeom prst="rect">
            <a:avLst/>
          </a:prstGeom>
          <a:solidFill>
            <a:srgbClr val="F7FAFC"/>
          </a:solidFill>
          <a:ln w="19050">
            <a:solidFill>
              <a:srgbClr val="8B6914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116" name="R1116"/>
          <p:cNvSpPr>
            <a:spLocks noGrp="1"/>
          </p:cNvSpPr>
          <p:nvPr/>
        </p:nvSpPr>
        <p:spPr>
          <a:xfrm>
            <a:off x="196000" y="4086000"/>
            <a:ext cx="8072000" cy="892000"/>
          </a:xfrm>
          <a:prstGeom prst="rect">
            <a:avLst/>
          </a:prstGeom>
          <a:solidFill>
            <a:srgbClr val="FFF5F5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117" name="R1117"/>
          <p:cNvSpPr>
            <a:spLocks noGrp="1"/>
          </p:cNvSpPr>
          <p:nvPr/>
        </p:nvSpPr>
        <p:spPr>
          <a:xfrm>
            <a:off x="196000" y="4086000"/>
            <a:ext cx="40000" cy="892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118" name="T1118"/>
          <p:cNvSpPr txBox="1"/>
          <p:nvPr/>
        </p:nvSpPr>
        <p:spPr>
          <a:xfrm>
            <a:off x="254000" y="4141000"/>
            <a:ext cx="7969000" cy="6762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l" fontAlgn="base">
              <a:lnSpc>
                <a:spcPts val="16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250" b="1" kern="100" dirty="0">
                <a:solidFill>
                  <a:srgbClr val="C00000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Phase 4 — Realtime &amp; Communication (Month </a:t>
            </a:r>
            <a:r>
              <a:rPr lang="en-US" sz="1250" b="1" kern="100" dirty="0">
                <a:solidFill>
                  <a:srgbClr val="C00000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3-4</a:t>
            </a:r>
            <a:r>
              <a:rPr lang="en-US" sz="1250" b="1" kern="100" dirty="0">
                <a:solidFill>
                  <a:srgbClr val="C00000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)</a:t>
            </a:r>
          </a:p>
          <a:p>
            <a:pPr marL="0" marR="0" algn="l" fontAlgn="base">
              <a:lnSpc>
                <a:spcPts val="145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100" kern="100" dirty="0">
                <a:solidFill>
                  <a:srgbClr val="4A556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WebSocket Chat, Notifications, Polls, Performance Scores, Team Events. Email Management (quota-enforced), Announcements, Expense Claims, Meeting Notes.</a:t>
            </a:r>
          </a:p>
        </p:txBody>
      </p:sp>
      <p:sp>
        <p:nvSpPr>
          <p:cNvPr id="1119" name="R1119"/>
          <p:cNvSpPr>
            <a:spLocks noGrp="1"/>
          </p:cNvSpPr>
          <p:nvPr/>
        </p:nvSpPr>
        <p:spPr>
          <a:xfrm>
            <a:off x="8308000" y="4086000"/>
            <a:ext cx="600000" cy="892000"/>
          </a:xfrm>
          <a:prstGeom prst="rect">
            <a:avLst/>
          </a:prstGeom>
          <a:solidFill>
            <a:srgbClr val="F7FAFC"/>
          </a:solidFill>
          <a:ln w="19050">
            <a:solidFill>
              <a:srgbClr val="C0000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121" name="R1121"/>
          <p:cNvSpPr>
            <a:spLocks noGrp="1"/>
          </p:cNvSpPr>
          <p:nvPr/>
        </p:nvSpPr>
        <p:spPr>
          <a:xfrm>
            <a:off x="196000" y="5008000"/>
            <a:ext cx="8072000" cy="89200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122" name="R1122"/>
          <p:cNvSpPr>
            <a:spLocks noGrp="1"/>
          </p:cNvSpPr>
          <p:nvPr/>
        </p:nvSpPr>
        <p:spPr>
          <a:xfrm>
            <a:off x="196000" y="5008000"/>
            <a:ext cx="40000" cy="8920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3" name="T1123"/>
          <p:cNvSpPr txBox="1"/>
          <p:nvPr/>
        </p:nvSpPr>
        <p:spPr>
          <a:xfrm>
            <a:off x="254000" y="5063000"/>
            <a:ext cx="7969000" cy="6762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l" fontAlgn="base">
              <a:lnSpc>
                <a:spcPts val="16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2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Phase 5 — Production &amp; Compliance (Month 4)</a:t>
            </a:r>
          </a:p>
          <a:p>
            <a:pPr marL="0" marR="0" algn="l" fontAlgn="base">
              <a:lnSpc>
                <a:spcPts val="145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100" kern="100" dirty="0">
                <a:solidFill>
                  <a:srgbClr val="4A556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Netlify CI/CD, custom domains, legal policies (Privacy, ToS, Refund). MSME/UDYAM registration. Full launch at admin.thrylos.in.</a:t>
            </a:r>
          </a:p>
        </p:txBody>
      </p:sp>
      <p:sp>
        <p:nvSpPr>
          <p:cNvPr id="1124" name="R1124"/>
          <p:cNvSpPr>
            <a:spLocks noGrp="1"/>
          </p:cNvSpPr>
          <p:nvPr/>
        </p:nvSpPr>
        <p:spPr>
          <a:xfrm>
            <a:off x="8308000" y="5008000"/>
            <a:ext cx="600000" cy="892000"/>
          </a:xfrm>
          <a:prstGeom prst="rect">
            <a:avLst/>
          </a:prstGeom>
          <a:solidFill>
            <a:srgbClr val="F7FAFC"/>
          </a:solidFill>
          <a:ln w="19050">
            <a:solidFill>
              <a:srgbClr val="718096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1110">
            <a:extLst>
              <a:ext uri="{FF2B5EF4-FFF2-40B4-BE49-F238E27FC236}">
                <a16:creationId xmlns:a16="http://schemas.microsoft.com/office/drawing/2014/main" id="{D857547E-D00D-7560-E149-D4F18FC25BD7}"/>
              </a:ext>
            </a:extLst>
          </p:cNvPr>
          <p:cNvSpPr txBox="1"/>
          <p:nvPr/>
        </p:nvSpPr>
        <p:spPr>
          <a:xfrm>
            <a:off x="8308000" y="3180692"/>
            <a:ext cx="600000" cy="8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ctr" fontAlgn="base">
              <a:lnSpc>
                <a:spcPts val="16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1400" b="1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100%</a:t>
            </a:r>
          </a:p>
          <a:p>
            <a:pPr marL="0" marR="0" algn="ctr" fontAlgn="base">
              <a:lnSpc>
                <a:spcPts val="16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900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✅ Done</a:t>
            </a:r>
          </a:p>
        </p:txBody>
      </p:sp>
      <p:sp>
        <p:nvSpPr>
          <p:cNvPr id="6" name="T1110">
            <a:extLst>
              <a:ext uri="{FF2B5EF4-FFF2-40B4-BE49-F238E27FC236}">
                <a16:creationId xmlns:a16="http://schemas.microsoft.com/office/drawing/2014/main" id="{955ED65B-73CD-F6A1-AB14-D8547BA4467D}"/>
              </a:ext>
            </a:extLst>
          </p:cNvPr>
          <p:cNvSpPr txBox="1"/>
          <p:nvPr/>
        </p:nvSpPr>
        <p:spPr>
          <a:xfrm>
            <a:off x="8288033" y="4088808"/>
            <a:ext cx="600000" cy="8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ctr" fontAlgn="base">
              <a:lnSpc>
                <a:spcPts val="16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1400" b="1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100%</a:t>
            </a:r>
          </a:p>
          <a:p>
            <a:pPr marL="0" marR="0" algn="ctr" fontAlgn="base">
              <a:lnSpc>
                <a:spcPts val="16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900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✅ Done</a:t>
            </a:r>
          </a:p>
        </p:txBody>
      </p:sp>
      <p:sp>
        <p:nvSpPr>
          <p:cNvPr id="8" name="T1110">
            <a:extLst>
              <a:ext uri="{FF2B5EF4-FFF2-40B4-BE49-F238E27FC236}">
                <a16:creationId xmlns:a16="http://schemas.microsoft.com/office/drawing/2014/main" id="{3A526006-EEC8-0D6C-0DDF-FECDACBC7E34}"/>
              </a:ext>
            </a:extLst>
          </p:cNvPr>
          <p:cNvSpPr txBox="1"/>
          <p:nvPr/>
        </p:nvSpPr>
        <p:spPr>
          <a:xfrm>
            <a:off x="8315200" y="5043616"/>
            <a:ext cx="600000" cy="8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ctr" fontAlgn="base">
              <a:lnSpc>
                <a:spcPts val="16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1400" b="1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100%</a:t>
            </a:r>
          </a:p>
          <a:p>
            <a:pPr marL="0" marR="0" algn="ctr" fontAlgn="base">
              <a:lnSpc>
                <a:spcPts val="16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900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✅ Done</a:t>
            </a:r>
          </a:p>
        </p:txBody>
      </p:sp>
    </p:spTree>
    <p:extLst>
      <p:ext uri="{BB962C8B-B14F-4D97-AF65-F5344CB8AC3E}">
        <p14:creationId xmlns:p14="http://schemas.microsoft.com/office/powerpoint/2010/main" val="3449508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1201" name="R1201"/>
          <p:cNvSpPr>
            <a:spLocks noGrp="1"/>
          </p:cNvSpPr>
          <p:nvPr/>
        </p:nvSpPr>
        <p:spPr>
          <a:xfrm>
            <a:off x="196000" y="1320000"/>
            <a:ext cx="4331000" cy="300000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202" name="R1202"/>
          <p:cNvSpPr>
            <a:spLocks noGrp="1"/>
          </p:cNvSpPr>
          <p:nvPr/>
        </p:nvSpPr>
        <p:spPr>
          <a:xfrm>
            <a:off x="196000" y="1320000"/>
            <a:ext cx="40000" cy="3000000"/>
          </a:xfrm>
          <a:prstGeom prst="rect">
            <a:avLst/>
          </a:prstGeom>
          <a:solidFill>
            <a:srgbClr val="0060A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203" name="T1203"/>
          <p:cNvSpPr txBox="1"/>
          <p:nvPr/>
        </p:nvSpPr>
        <p:spPr>
          <a:xfrm>
            <a:off x="254000" y="1375000"/>
            <a:ext cx="4228000" cy="4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marR="0" algn="l" fontAlgn="base">
              <a:lnSpc>
                <a:spcPts val="18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2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Tech Stack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Frontend: React 18, TypeScript 5, Tailwind CSS 3.4, Shadcn/UI, Framer Motion 11.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Backend: Supabase (PostgreSQL + Auth + Realtime + Edge Functions on Deno runtime).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Email: Brevo Transactional REST API. Payments: UPI QR + manual admin verification.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Build: Vite. Hosting: Netlify (CI/CD + edge). Domains: GoDaddy.</a:t>
            </a:r>
          </a:p>
        </p:txBody>
      </p:sp>
      <p:sp>
        <p:nvSpPr>
          <p:cNvPr id="1204" name="R1204"/>
          <p:cNvSpPr>
            <a:spLocks noGrp="1"/>
          </p:cNvSpPr>
          <p:nvPr/>
        </p:nvSpPr>
        <p:spPr>
          <a:xfrm>
            <a:off x="256344" y="3339274"/>
            <a:ext cx="4331000" cy="2865046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205" name="R1205"/>
          <p:cNvSpPr>
            <a:spLocks noGrp="1"/>
          </p:cNvSpPr>
          <p:nvPr/>
        </p:nvSpPr>
        <p:spPr>
          <a:xfrm>
            <a:off x="190281" y="2480000"/>
            <a:ext cx="45719" cy="3000000"/>
          </a:xfrm>
          <a:prstGeom prst="rect">
            <a:avLst/>
          </a:prstGeom>
          <a:solidFill>
            <a:srgbClr val="0097D4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206" name="T1206"/>
          <p:cNvSpPr txBox="1"/>
          <p:nvPr/>
        </p:nvSpPr>
        <p:spPr>
          <a:xfrm>
            <a:off x="283656" y="3339274"/>
            <a:ext cx="4228000" cy="2890711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marR="0" algn="l" fontAlgn="base">
              <a:lnSpc>
                <a:spcPts val="18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200" b="1" kern="100" dirty="0">
                <a:solidFill>
                  <a:srgbClr val="0097D4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Data Sources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Live Supabase PostgreSQL database with 50+ tables; RLS policies on every table.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Supabase Realtime WebSocket for live chat, notifications &amp; leaderboard data.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Browser Geolocation API for login audit records (IP, city, coordinates).</a:t>
            </a:r>
          </a:p>
        </p:txBody>
      </p:sp>
      <p:sp>
        <p:nvSpPr>
          <p:cNvPr id="1207" name="R1207"/>
          <p:cNvSpPr>
            <a:spLocks noGrp="1"/>
          </p:cNvSpPr>
          <p:nvPr/>
        </p:nvSpPr>
        <p:spPr>
          <a:xfrm>
            <a:off x="211344" y="4862086"/>
            <a:ext cx="4405656" cy="1342233"/>
          </a:xfrm>
          <a:prstGeom prst="rect">
            <a:avLst/>
          </a:prstGeom>
          <a:solidFill>
            <a:srgbClr val="EDFAF3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208" name="R1208"/>
          <p:cNvSpPr>
            <a:spLocks noGrp="1"/>
          </p:cNvSpPr>
          <p:nvPr/>
        </p:nvSpPr>
        <p:spPr>
          <a:xfrm>
            <a:off x="195999" y="3540000"/>
            <a:ext cx="45719" cy="2664317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209" name="T1209"/>
          <p:cNvSpPr txBox="1"/>
          <p:nvPr/>
        </p:nvSpPr>
        <p:spPr>
          <a:xfrm>
            <a:off x="193344" y="4875331"/>
            <a:ext cx="4315656" cy="131574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marR="0" algn="l" fontAlgn="base">
              <a:lnSpc>
                <a:spcPts val="18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200" b="1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External APIs &amp; Services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Brevo REST API — OTP delivery, certificates, receipts, admin email dispatch.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0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Supabase Edge Functions (Deno) — OTP logic, quota enforcement, email routing.</a:t>
            </a:r>
          </a:p>
        </p:txBody>
      </p:sp>
      <p:sp>
        <p:nvSpPr>
          <p:cNvPr id="1211" name="R1211"/>
          <p:cNvSpPr>
            <a:spLocks noGrp="1"/>
          </p:cNvSpPr>
          <p:nvPr/>
        </p:nvSpPr>
        <p:spPr>
          <a:xfrm>
            <a:off x="195999" y="4600000"/>
            <a:ext cx="45719" cy="162998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213" name="R1213"/>
          <p:cNvSpPr>
            <a:spLocks noGrp="1"/>
          </p:cNvSpPr>
          <p:nvPr/>
        </p:nvSpPr>
        <p:spPr>
          <a:xfrm>
            <a:off x="4617000" y="1320000"/>
            <a:ext cx="4331000" cy="453000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214" name="R1214"/>
          <p:cNvSpPr>
            <a:spLocks noGrp="1"/>
          </p:cNvSpPr>
          <p:nvPr/>
        </p:nvSpPr>
        <p:spPr>
          <a:xfrm>
            <a:off x="4617000" y="1320000"/>
            <a:ext cx="40000" cy="453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215" name="T1215"/>
          <p:cNvSpPr txBox="1"/>
          <p:nvPr/>
        </p:nvSpPr>
        <p:spPr>
          <a:xfrm>
            <a:off x="4675000" y="1375000"/>
            <a:ext cx="4228000" cy="4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l" fontAlgn="base">
              <a:lnSpc>
                <a:spcPts val="18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200" b="1" kern="100" dirty="0">
                <a:solidFill>
                  <a:srgbClr val="00336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Infrastructure Summary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Active Admin Accounts: </a:t>
            </a:r>
            <a:r>
              <a:rPr lang="en-US" sz="11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14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Employee Records: </a:t>
            </a:r>
            <a:r>
              <a:rPr lang="en-US" sz="1100" b="1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10 (active)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Esports Users: </a:t>
            </a:r>
            <a:r>
              <a:rPr lang="en-US" sz="11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2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Revenue Tracked: </a:t>
            </a:r>
            <a:r>
              <a:rPr lang="en-US" sz="1100" b="1" kern="100" dirty="0">
                <a:solidFill>
                  <a:srgbClr val="C00000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₹</a:t>
            </a:r>
            <a:r>
              <a:rPr lang="en-US" sz="1100" b="1" kern="100" dirty="0">
                <a:solidFill>
                  <a:srgbClr val="C00000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20,000+</a:t>
            </a:r>
            <a:endParaRPr lang="en-US" sz="1100" b="1" kern="100" dirty="0">
              <a:solidFill>
                <a:srgbClr val="C00000"/>
              </a:solidFill>
              <a:effectLst/>
              <a:latin typeface="Verdana" pitchFamily="34" charset="0"/>
              <a:ea typeface="Calibri" pitchFamily="34" charset="0"/>
              <a:cs typeface="Calibri" pitchFamily="34" charset="0"/>
            </a:endParaRP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Work Log Entries: </a:t>
            </a:r>
            <a:r>
              <a:rPr lang="en-US" sz="11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98 entries | 170.5h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Content Pieces: </a:t>
            </a:r>
            <a:r>
              <a:rPr lang="en-US" sz="11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53 across 5 platforms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Audit Actions: </a:t>
            </a:r>
            <a:r>
              <a:rPr lang="en-US" sz="1100" b="1" kern="100" dirty="0">
                <a:solidFill>
                  <a:srgbClr val="8B6914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7 total | 6 today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Attendance Rate: </a:t>
            </a:r>
            <a:r>
              <a:rPr lang="en-US" sz="1100" b="1" kern="100" dirty="0">
                <a:solidFill>
                  <a:srgbClr val="8B6914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46% (6 of 13 present)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Database Tables: </a:t>
            </a:r>
            <a:r>
              <a:rPr lang="en-US" sz="1100" b="1" kern="100" dirty="0">
                <a:solidFill>
                  <a:srgbClr val="0060AA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50</a:t>
            </a:r>
            <a:r>
              <a:rPr lang="en-US" sz="11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+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Edge Functions: </a:t>
            </a:r>
            <a:r>
              <a:rPr lang="en-US" sz="11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3 (send-otp, verify-otp, send-email)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Custom Domains: </a:t>
            </a:r>
            <a:r>
              <a:rPr lang="en-US" sz="11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4 (thrylos.in + 3 more)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Email Quota: </a:t>
            </a:r>
            <a:r>
              <a:rPr lang="en-US" sz="11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15/admin/day via Brevo</a:t>
            </a:r>
          </a:p>
          <a:p>
            <a:pPr marL="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" dirty="0"/>
          </a:p>
          <a:p>
            <a:pPr marL="0" marR="0" algn="l" fontAlgn="base">
              <a:lnSpc>
                <a:spcPct val="15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2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Live Platform URLs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Admin Portal: </a:t>
            </a:r>
            <a:r>
              <a:rPr lang="en-US" sz="11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admin.thrylos.in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Main Website: </a:t>
            </a:r>
            <a:r>
              <a:rPr lang="en-US" sz="11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thrylos.in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Auth Portal: </a:t>
            </a:r>
            <a:r>
              <a:rPr lang="en-US" sz="11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thrylosauth.in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Alternate Domain: </a:t>
            </a:r>
            <a:r>
              <a:rPr lang="en-US" sz="11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thrylosindia.in</a:t>
            </a:r>
          </a:p>
          <a:p>
            <a:pPr marL="0" algn="l" fontAlgn="base">
              <a:lnSpc>
                <a:spcPts val="15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050" b="1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Support Email: </a:t>
            </a:r>
            <a:r>
              <a:rPr lang="en-US" sz="11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support@thrylos.in</a:t>
            </a:r>
          </a:p>
        </p:txBody>
      </p:sp>
    </p:spTree>
    <p:extLst>
      <p:ext uri="{BB962C8B-B14F-4D97-AF65-F5344CB8AC3E}">
        <p14:creationId xmlns:p14="http://schemas.microsoft.com/office/powerpoint/2010/main" val="3449068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976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625844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Use cases &amp; Scope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1301" name="R1301"/>
          <p:cNvSpPr>
            <a:spLocks noGrp="1"/>
          </p:cNvSpPr>
          <p:nvPr/>
        </p:nvSpPr>
        <p:spPr>
          <a:xfrm>
            <a:off x="196000" y="1320000"/>
            <a:ext cx="4331000" cy="300000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302" name="R1302"/>
          <p:cNvSpPr>
            <a:spLocks noGrp="1"/>
          </p:cNvSpPr>
          <p:nvPr/>
        </p:nvSpPr>
        <p:spPr>
          <a:xfrm>
            <a:off x="196000" y="1320000"/>
            <a:ext cx="40000" cy="3000000"/>
          </a:xfrm>
          <a:prstGeom prst="rect">
            <a:avLst/>
          </a:prstGeom>
          <a:solidFill>
            <a:srgbClr val="0060A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303" name="T1303"/>
          <p:cNvSpPr txBox="1"/>
          <p:nvPr/>
        </p:nvSpPr>
        <p:spPr>
          <a:xfrm>
            <a:off x="254000" y="1375000"/>
            <a:ext cx="4228000" cy="4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marR="0" algn="l" fontAlgn="base">
              <a:lnSpc>
                <a:spcPts val="18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5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Primary Use Cases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HR Operations: onboard employees, manage Aadhaar/PAN/offer letters, track leave, generate certificates.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Esports Administration: register players, track payment, export CSV, monitor revenue.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Team Management: daily standups, kanban boards, attendance tracking, performance auto-rankings.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Communications Hub: WebSocket team chat, company-wide announcements, polls, email dispatch.</a:t>
            </a:r>
          </a:p>
        </p:txBody>
      </p:sp>
      <p:sp>
        <p:nvSpPr>
          <p:cNvPr id="1304" name="R1304"/>
          <p:cNvSpPr>
            <a:spLocks noGrp="1"/>
          </p:cNvSpPr>
          <p:nvPr/>
        </p:nvSpPr>
        <p:spPr>
          <a:xfrm>
            <a:off x="4617000" y="1320000"/>
            <a:ext cx="4331000" cy="3000000"/>
          </a:xfrm>
          <a:prstGeom prst="rect">
            <a:avLst/>
          </a:prstGeom>
          <a:solidFill>
            <a:srgbClr val="FFF5F5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305" name="R1305"/>
          <p:cNvSpPr>
            <a:spLocks noGrp="1"/>
          </p:cNvSpPr>
          <p:nvPr/>
        </p:nvSpPr>
        <p:spPr>
          <a:xfrm>
            <a:off x="4617000" y="1320000"/>
            <a:ext cx="40000" cy="300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306" name="T1306"/>
          <p:cNvSpPr txBox="1"/>
          <p:nvPr/>
        </p:nvSpPr>
        <p:spPr>
          <a:xfrm>
            <a:off x="4675000" y="1375000"/>
            <a:ext cx="4228000" cy="4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marR="0" algn="l" fontAlgn="base">
              <a:lnSpc>
                <a:spcPts val="18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500" b="1" kern="100" dirty="0">
                <a:solidFill>
                  <a:srgbClr val="C00000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Admin-Specific Use Cases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Super Admin: audit every action, manage all 14 admins, 360-degree company analytics.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HR Admin: full employee lifecycle — hire → onboard → track → exit — from one dashboard.</a:t>
            </a:r>
          </a:p>
          <a:p>
            <a:pPr marL="320000" fontAlgn="base">
              <a:lnSpc>
                <a:spcPts val="1500"/>
              </a:lnSpc>
              <a:spcBef>
                <a:spcPts val="65"/>
              </a:spcBef>
              <a:buChar char="▸"/>
            </a:pPr>
            <a:r>
              <a:rPr lang="en-US" sz="1150" kern="100" dirty="0">
                <a:solidFill>
                  <a:srgbClr val="2D3748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Tech </a:t>
            </a: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Admin: </a:t>
            </a:r>
            <a:r>
              <a:rPr lang="en-US" sz="1200" kern="100" dirty="0">
                <a:solidFill>
                  <a:srgbClr val="2D3748"/>
                </a:solidFill>
                <a:latin typeface="Verdana" pitchFamily="34" charset="0"/>
                <a:ea typeface="Calibri" pitchFamily="34" charset="0"/>
                <a:cs typeface="Calibri" pitchFamily="34" charset="0"/>
              </a:rPr>
              <a:t>Tech logs updates, daily logs update and technical work related to the website.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Content/Esports Admin: track posts, engagement, tournament registrations &amp; player data.</a:t>
            </a:r>
          </a:p>
        </p:txBody>
      </p:sp>
      <p:sp>
        <p:nvSpPr>
          <p:cNvPr id="1307" name="R1307"/>
          <p:cNvSpPr>
            <a:spLocks noGrp="1"/>
          </p:cNvSpPr>
          <p:nvPr/>
        </p:nvSpPr>
        <p:spPr>
          <a:xfrm>
            <a:off x="258552" y="4008692"/>
            <a:ext cx="4263470" cy="2245627"/>
          </a:xfrm>
          <a:prstGeom prst="rect">
            <a:avLst/>
          </a:prstGeom>
          <a:solidFill>
            <a:srgbClr val="EDFAF3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308" name="R1308"/>
          <p:cNvSpPr>
            <a:spLocks noGrp="1"/>
          </p:cNvSpPr>
          <p:nvPr/>
        </p:nvSpPr>
        <p:spPr>
          <a:xfrm>
            <a:off x="195999" y="3645000"/>
            <a:ext cx="45719" cy="2609317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309" name="T1309"/>
          <p:cNvSpPr txBox="1"/>
          <p:nvPr/>
        </p:nvSpPr>
        <p:spPr>
          <a:xfrm>
            <a:off x="227440" y="4063692"/>
            <a:ext cx="4228000" cy="22456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marR="0" algn="l" fontAlgn="base">
              <a:lnSpc>
                <a:spcPts val="18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500" b="1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In Scope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All internal admin operations for an esports + digital services company in India.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Skill-games only: compliant with Indian IT Act 2000 &amp; MSME guidelines.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Future: Mobile app, automated payroll, AI-powered performance insights, multi-company SaaS.</a:t>
            </a:r>
          </a:p>
        </p:txBody>
      </p:sp>
      <p:sp>
        <p:nvSpPr>
          <p:cNvPr id="1310" name="R1310"/>
          <p:cNvSpPr>
            <a:spLocks noGrp="1"/>
          </p:cNvSpPr>
          <p:nvPr/>
        </p:nvSpPr>
        <p:spPr>
          <a:xfrm>
            <a:off x="4617000" y="3645000"/>
            <a:ext cx="4331000" cy="2609319"/>
          </a:xfrm>
          <a:prstGeom prst="rect">
            <a:avLst/>
          </a:prstGeom>
          <a:solidFill>
            <a:srgbClr val="FFFBEB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311" name="R1311"/>
          <p:cNvSpPr>
            <a:spLocks noGrp="1"/>
          </p:cNvSpPr>
          <p:nvPr/>
        </p:nvSpPr>
        <p:spPr>
          <a:xfrm>
            <a:off x="4616999" y="3645000"/>
            <a:ext cx="45719" cy="2609316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312" name="T1312"/>
          <p:cNvSpPr txBox="1"/>
          <p:nvPr/>
        </p:nvSpPr>
        <p:spPr>
          <a:xfrm>
            <a:off x="4675000" y="3699999"/>
            <a:ext cx="4228000" cy="2554319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marR="0" algn="l" fontAlgn="base">
              <a:lnSpc>
                <a:spcPts val="18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500" b="1" kern="100" dirty="0">
                <a:solidFill>
                  <a:srgbClr val="8B6914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Out of Scope &amp; Constraints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Public-facing portals or player self-service — internal admin-only platform.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Gambling or chance-based mechanics — strictly prohibited, legally compliant.</a:t>
            </a:r>
          </a:p>
          <a:p>
            <a:pPr marL="320000" marR="0" algn="l" fontAlgn="base">
              <a:lnSpc>
                <a:spcPts val="1600"/>
              </a:lnSpc>
              <a:spcBef>
                <a:spcPts val="70"/>
              </a:spcBef>
              <a:spcAft>
                <a:spcPts val="0"/>
              </a:spcAft>
              <a:buChar char="▸"/>
            </a:pPr>
            <a:r>
              <a:rPr lang="en-US" sz="115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Third-party open APIs beyond Supabase, Brevo &amp; Netlify in current phase.</a:t>
            </a:r>
          </a:p>
        </p:txBody>
      </p:sp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1401" name="R1401"/>
          <p:cNvSpPr>
            <a:spLocks noGrp="1"/>
          </p:cNvSpPr>
          <p:nvPr/>
        </p:nvSpPr>
        <p:spPr>
          <a:xfrm>
            <a:off x="196000" y="1320000"/>
            <a:ext cx="2135500" cy="470000"/>
          </a:xfrm>
          <a:prstGeom prst="rect">
            <a:avLst/>
          </a:prstGeom>
          <a:solidFill>
            <a:srgbClr val="EDFAF3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402" name="R1402"/>
          <p:cNvSpPr>
            <a:spLocks noGrp="1"/>
          </p:cNvSpPr>
          <p:nvPr/>
        </p:nvSpPr>
        <p:spPr>
          <a:xfrm>
            <a:off x="196000" y="1320000"/>
            <a:ext cx="2135500" cy="320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403" name="T1403"/>
          <p:cNvSpPr txBox="1"/>
          <p:nvPr/>
        </p:nvSpPr>
        <p:spPr>
          <a:xfrm>
            <a:off x="475757" y="1378040"/>
            <a:ext cx="1575985" cy="465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ctr" fontAlgn="base">
              <a:lnSpc>
                <a:spcPts val="16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2200" b="1" kern="100" dirty="0">
                <a:solidFill>
                  <a:srgbClr val="1A7A4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80%+</a:t>
            </a:r>
          </a:p>
          <a:p>
            <a:pPr marL="0" marR="0" algn="ctr" fontAlgn="base">
              <a:lnSpc>
                <a:spcPts val="15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900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HR Effort Reduced</a:t>
            </a:r>
          </a:p>
        </p:txBody>
      </p:sp>
      <p:sp>
        <p:nvSpPr>
          <p:cNvPr id="1404" name="R1404"/>
          <p:cNvSpPr>
            <a:spLocks noGrp="1"/>
          </p:cNvSpPr>
          <p:nvPr/>
        </p:nvSpPr>
        <p:spPr>
          <a:xfrm>
            <a:off x="2401500" y="1320000"/>
            <a:ext cx="2135500" cy="47000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405" name="R1405"/>
          <p:cNvSpPr>
            <a:spLocks noGrp="1"/>
          </p:cNvSpPr>
          <p:nvPr/>
        </p:nvSpPr>
        <p:spPr>
          <a:xfrm>
            <a:off x="2401500" y="1320000"/>
            <a:ext cx="2135500" cy="32000"/>
          </a:xfrm>
          <a:prstGeom prst="rect">
            <a:avLst/>
          </a:prstGeom>
          <a:solidFill>
            <a:srgbClr val="0060A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406" name="T1406"/>
          <p:cNvSpPr txBox="1"/>
          <p:nvPr/>
        </p:nvSpPr>
        <p:spPr>
          <a:xfrm>
            <a:off x="2737438" y="1380424"/>
            <a:ext cx="1576800" cy="46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ctr" fontAlgn="base">
              <a:lnSpc>
                <a:spcPts val="16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22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Zero</a:t>
            </a:r>
          </a:p>
          <a:p>
            <a:pPr marL="0" marR="0" algn="ctr" fontAlgn="base">
              <a:lnSpc>
                <a:spcPts val="15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900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Unauth. Incidents</a:t>
            </a:r>
          </a:p>
        </p:txBody>
      </p:sp>
      <p:sp>
        <p:nvSpPr>
          <p:cNvPr id="1407" name="R1407"/>
          <p:cNvSpPr>
            <a:spLocks noGrp="1"/>
          </p:cNvSpPr>
          <p:nvPr/>
        </p:nvSpPr>
        <p:spPr>
          <a:xfrm>
            <a:off x="4607000" y="1320000"/>
            <a:ext cx="2135500" cy="47000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408" name="R1408"/>
          <p:cNvSpPr>
            <a:spLocks noGrp="1"/>
          </p:cNvSpPr>
          <p:nvPr/>
        </p:nvSpPr>
        <p:spPr>
          <a:xfrm>
            <a:off x="4607000" y="1320000"/>
            <a:ext cx="2135500" cy="32000"/>
          </a:xfrm>
          <a:prstGeom prst="rect">
            <a:avLst/>
          </a:prstGeom>
          <a:solidFill>
            <a:srgbClr val="0097D4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409" name="T1409"/>
          <p:cNvSpPr txBox="1"/>
          <p:nvPr/>
        </p:nvSpPr>
        <p:spPr>
          <a:xfrm>
            <a:off x="4886350" y="1380424"/>
            <a:ext cx="1576800" cy="46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ctr" fontAlgn="base">
              <a:lnSpc>
                <a:spcPts val="16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2200" b="1" kern="100" dirty="0">
                <a:solidFill>
                  <a:srgbClr val="0097D4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170h</a:t>
            </a:r>
          </a:p>
          <a:p>
            <a:pPr marL="0" marR="0" algn="ctr" fontAlgn="base">
              <a:lnSpc>
                <a:spcPts val="15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900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Dev Hours Tracked</a:t>
            </a:r>
          </a:p>
        </p:txBody>
      </p:sp>
      <p:sp>
        <p:nvSpPr>
          <p:cNvPr id="1410" name="R1410"/>
          <p:cNvSpPr>
            <a:spLocks noGrp="1"/>
          </p:cNvSpPr>
          <p:nvPr/>
        </p:nvSpPr>
        <p:spPr>
          <a:xfrm>
            <a:off x="6812500" y="1320000"/>
            <a:ext cx="2135500" cy="470000"/>
          </a:xfrm>
          <a:prstGeom prst="rect">
            <a:avLst/>
          </a:prstGeom>
          <a:solidFill>
            <a:srgbClr val="FFFBEB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411" name="R1411"/>
          <p:cNvSpPr>
            <a:spLocks noGrp="1"/>
          </p:cNvSpPr>
          <p:nvPr/>
        </p:nvSpPr>
        <p:spPr>
          <a:xfrm>
            <a:off x="6812500" y="1320000"/>
            <a:ext cx="2135500" cy="3200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412" name="T1412"/>
          <p:cNvSpPr txBox="1"/>
          <p:nvPr/>
        </p:nvSpPr>
        <p:spPr>
          <a:xfrm>
            <a:off x="7051675" y="1380424"/>
            <a:ext cx="1576800" cy="46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ctr" fontAlgn="base">
              <a:lnSpc>
                <a:spcPts val="16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2200" b="1" kern="100" dirty="0">
                <a:solidFill>
                  <a:srgbClr val="8B6914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53</a:t>
            </a:r>
          </a:p>
          <a:p>
            <a:pPr marL="0" marR="0" algn="ctr" fontAlgn="base">
              <a:lnSpc>
                <a:spcPts val="15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900" kern="100" dirty="0">
                <a:solidFill>
                  <a:srgbClr val="71809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Content Pieces</a:t>
            </a:r>
          </a:p>
        </p:txBody>
      </p:sp>
      <p:sp>
        <p:nvSpPr>
          <p:cNvPr id="1413" name="R1413"/>
          <p:cNvSpPr>
            <a:spLocks noGrp="1"/>
          </p:cNvSpPr>
          <p:nvPr/>
        </p:nvSpPr>
        <p:spPr>
          <a:xfrm>
            <a:off x="196000" y="1849999"/>
            <a:ext cx="4331000" cy="1104999"/>
          </a:xfrm>
          <a:prstGeom prst="rect">
            <a:avLst/>
          </a:prstGeom>
          <a:solidFill>
            <a:srgbClr val="EDFAF3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414" name="R1414"/>
          <p:cNvSpPr>
            <a:spLocks noGrp="1"/>
          </p:cNvSpPr>
          <p:nvPr/>
        </p:nvSpPr>
        <p:spPr>
          <a:xfrm>
            <a:off x="196000" y="1850000"/>
            <a:ext cx="45719" cy="1143054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415" name="T1415"/>
          <p:cNvSpPr txBox="1"/>
          <p:nvPr/>
        </p:nvSpPr>
        <p:spPr>
          <a:xfrm>
            <a:off x="366000" y="1912674"/>
            <a:ext cx="4013000" cy="12789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l" fontAlgn="base">
              <a:lnSpc>
                <a:spcPts val="17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400" b="1" kern="100" dirty="0">
                <a:solidFill>
                  <a:srgbClr val="0060AA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Operational Impact</a:t>
            </a:r>
          </a:p>
          <a:p>
            <a:pPr marL="320000" marR="0" algn="l" fontAlgn="base">
              <a:lnSpc>
                <a:spcPts val="1500"/>
              </a:lnSpc>
              <a:spcBef>
                <a:spcPts val="65"/>
              </a:spcBef>
              <a:spcAft>
                <a:spcPts val="0"/>
              </a:spcAft>
              <a:buChar char="▸"/>
            </a:pPr>
            <a:r>
              <a:rPr lang="en-US" sz="110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Reduced HR effort by 80%+ — attendance, leave, documents &amp; certificates fully digitised.</a:t>
            </a:r>
          </a:p>
          <a:p>
            <a:pPr marL="320000" marR="0" algn="l" fontAlgn="base">
              <a:lnSpc>
                <a:spcPts val="1500"/>
              </a:lnSpc>
              <a:spcBef>
                <a:spcPts val="65"/>
              </a:spcBef>
              <a:spcAft>
                <a:spcPts val="0"/>
              </a:spcAft>
              <a:buChar char="▸"/>
            </a:pPr>
            <a:r>
              <a:rPr lang="en-US" sz="110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Zero-password auth eliminated credential leaks; geolocation provides full login accountability.-</a:t>
            </a:r>
          </a:p>
        </p:txBody>
      </p:sp>
      <p:sp>
        <p:nvSpPr>
          <p:cNvPr id="1416" name="R1416"/>
          <p:cNvSpPr>
            <a:spLocks noGrp="1"/>
          </p:cNvSpPr>
          <p:nvPr/>
        </p:nvSpPr>
        <p:spPr>
          <a:xfrm>
            <a:off x="245678" y="2993053"/>
            <a:ext cx="4261323" cy="1422718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417" name="R1417"/>
          <p:cNvSpPr>
            <a:spLocks noGrp="1"/>
          </p:cNvSpPr>
          <p:nvPr/>
        </p:nvSpPr>
        <p:spPr>
          <a:xfrm>
            <a:off x="195999" y="3012719"/>
            <a:ext cx="45719" cy="14030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418" name="T1418"/>
          <p:cNvSpPr txBox="1"/>
          <p:nvPr/>
        </p:nvSpPr>
        <p:spPr>
          <a:xfrm>
            <a:off x="241000" y="2979739"/>
            <a:ext cx="4228000" cy="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l" fontAlgn="base">
              <a:lnSpc>
                <a:spcPts val="17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400" b="1" kern="100" dirty="0">
                <a:solidFill>
                  <a:srgbClr val="003366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Academic Contribution</a:t>
            </a:r>
          </a:p>
          <a:p>
            <a:pPr marL="320000" marR="0" algn="l" fontAlgn="base">
              <a:lnSpc>
                <a:spcPts val="1500"/>
              </a:lnSpc>
              <a:spcBef>
                <a:spcPts val="65"/>
              </a:spcBef>
              <a:spcAft>
                <a:spcPts val="0"/>
              </a:spcAft>
              <a:buChar char="▸"/>
            </a:pPr>
            <a:r>
              <a:rPr lang="en-US" sz="110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Demonstrates end-to-end full-stack development: React + TypeScript + Supabase.</a:t>
            </a:r>
          </a:p>
          <a:p>
            <a:pPr marL="320000" marR="0" algn="l" fontAlgn="base">
              <a:lnSpc>
                <a:spcPts val="1500"/>
              </a:lnSpc>
              <a:spcBef>
                <a:spcPts val="65"/>
              </a:spcBef>
              <a:spcAft>
                <a:spcPts val="0"/>
              </a:spcAft>
              <a:buChar char="▸"/>
            </a:pPr>
            <a:r>
              <a:rPr lang="en-US" sz="110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Real-world application: RLS, JWT, WebSocket realtime, CI/CD &amp; Deno Edge Functions.</a:t>
            </a:r>
          </a:p>
          <a:p>
            <a:pPr marL="320000" marR="0" algn="l" fontAlgn="base">
              <a:lnSpc>
                <a:spcPts val="1500"/>
              </a:lnSpc>
              <a:spcBef>
                <a:spcPts val="65"/>
              </a:spcBef>
              <a:spcAft>
                <a:spcPts val="0"/>
              </a:spcAft>
              <a:buChar char="▸"/>
            </a:pPr>
            <a:r>
              <a:rPr lang="en-US" sz="110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Replicable template for Indian SME admin portals &amp; esports companies.</a:t>
            </a:r>
          </a:p>
        </p:txBody>
      </p:sp>
      <p:sp>
        <p:nvSpPr>
          <p:cNvPr id="1419" name="R1419"/>
          <p:cNvSpPr>
            <a:spLocks noGrp="1"/>
          </p:cNvSpPr>
          <p:nvPr/>
        </p:nvSpPr>
        <p:spPr>
          <a:xfrm>
            <a:off x="4617000" y="1849999"/>
            <a:ext cx="4331000" cy="1040989"/>
          </a:xfrm>
          <a:prstGeom prst="rect">
            <a:avLst/>
          </a:prstGeom>
          <a:solidFill>
            <a:srgbClr val="FFF5F5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420" name="R1420"/>
          <p:cNvSpPr>
            <a:spLocks noGrp="1"/>
          </p:cNvSpPr>
          <p:nvPr/>
        </p:nvSpPr>
        <p:spPr>
          <a:xfrm flipH="1">
            <a:off x="4548874" y="1849999"/>
            <a:ext cx="68126" cy="107299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421" name="T1421"/>
          <p:cNvSpPr txBox="1"/>
          <p:nvPr/>
        </p:nvSpPr>
        <p:spPr>
          <a:xfrm>
            <a:off x="4617000" y="1852897"/>
            <a:ext cx="4228000" cy="10865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l" fontAlgn="base">
              <a:lnSpc>
                <a:spcPts val="17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400" b="1" kern="100" dirty="0">
                <a:solidFill>
                  <a:srgbClr val="C00000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Business Impact</a:t>
            </a:r>
          </a:p>
          <a:p>
            <a:pPr marL="320000" marR="0" algn="l" fontAlgn="base">
              <a:lnSpc>
                <a:spcPts val="1500"/>
              </a:lnSpc>
              <a:spcBef>
                <a:spcPts val="65"/>
              </a:spcBef>
              <a:spcAft>
                <a:spcPts val="0"/>
              </a:spcAft>
              <a:buChar char="▸"/>
            </a:pPr>
            <a:r>
              <a:rPr lang="en-US" sz="110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14 admins active in production with role-specific access — zero unauthorised incidents.</a:t>
            </a:r>
          </a:p>
          <a:p>
            <a:pPr marL="320000" marR="0" algn="l" fontAlgn="base">
              <a:lnSpc>
                <a:spcPts val="1500"/>
              </a:lnSpc>
              <a:spcBef>
                <a:spcPts val="65"/>
              </a:spcBef>
              <a:spcAft>
                <a:spcPts val="0"/>
              </a:spcAft>
              <a:buChar char="▸"/>
            </a:pPr>
            <a:r>
              <a:rPr lang="en-US" sz="110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Esports revenue ₹14,800 tracked; 98 work entries, 170.5h logged — full accountability.</a:t>
            </a:r>
          </a:p>
        </p:txBody>
      </p:sp>
      <p:sp>
        <p:nvSpPr>
          <p:cNvPr id="1422" name="R1422"/>
          <p:cNvSpPr>
            <a:spLocks noGrp="1"/>
          </p:cNvSpPr>
          <p:nvPr/>
        </p:nvSpPr>
        <p:spPr>
          <a:xfrm>
            <a:off x="4633296" y="2979197"/>
            <a:ext cx="4331000" cy="1436567"/>
          </a:xfrm>
          <a:prstGeom prst="rect">
            <a:avLst/>
          </a:prstGeom>
          <a:solidFill>
            <a:srgbClr val="FFFBEB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423" name="R1423"/>
          <p:cNvSpPr>
            <a:spLocks noGrp="1"/>
          </p:cNvSpPr>
          <p:nvPr/>
        </p:nvSpPr>
        <p:spPr>
          <a:xfrm>
            <a:off x="4549140" y="2993052"/>
            <a:ext cx="67860" cy="1422711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424" name="T1424"/>
          <p:cNvSpPr txBox="1"/>
          <p:nvPr/>
        </p:nvSpPr>
        <p:spPr>
          <a:xfrm>
            <a:off x="4670322" y="2977707"/>
            <a:ext cx="4228000" cy="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algn="l" fontAlgn="base">
              <a:lnSpc>
                <a:spcPts val="17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400" b="1" kern="100" dirty="0">
                <a:solidFill>
                  <a:srgbClr val="8B6914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Future Scope</a:t>
            </a:r>
          </a:p>
          <a:p>
            <a:pPr marL="320000" marR="0" algn="l" fontAlgn="base">
              <a:lnSpc>
                <a:spcPts val="1500"/>
              </a:lnSpc>
              <a:spcBef>
                <a:spcPts val="65"/>
              </a:spcBef>
              <a:spcAft>
                <a:spcPts val="0"/>
              </a:spcAft>
              <a:buChar char="▸"/>
            </a:pPr>
            <a:r>
              <a:rPr lang="en-US" sz="110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Foundation for a multi-tenant SaaS product targeting Indian esports companies.</a:t>
            </a:r>
          </a:p>
          <a:p>
            <a:pPr marL="320000" marR="0" algn="l" fontAlgn="base">
              <a:lnSpc>
                <a:spcPts val="1500"/>
              </a:lnSpc>
              <a:spcBef>
                <a:spcPts val="65"/>
              </a:spcBef>
              <a:spcAft>
                <a:spcPts val="0"/>
              </a:spcAft>
              <a:buChar char="▸"/>
            </a:pPr>
            <a:r>
              <a:rPr lang="en-US" sz="110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Planned: AI-driven performance analytics, automated payroll, public tournament portal.</a:t>
            </a:r>
          </a:p>
          <a:p>
            <a:pPr marL="320000" marR="0" algn="l" fontAlgn="base">
              <a:lnSpc>
                <a:spcPts val="1500"/>
              </a:lnSpc>
              <a:spcBef>
                <a:spcPts val="65"/>
              </a:spcBef>
              <a:spcAft>
                <a:spcPts val="0"/>
              </a:spcAft>
              <a:buChar char="▸"/>
            </a:pPr>
            <a:r>
              <a:rPr lang="en-US" sz="1100" kern="100" dirty="0">
                <a:solidFill>
                  <a:srgbClr val="2D3748"/>
                </a:solidFill>
                <a:effectLst/>
                <a:latin typeface="Verdana" pitchFamily="34" charset="0"/>
                <a:ea typeface="Calibri" pitchFamily="34" charset="0"/>
                <a:cs typeface="Calibri" pitchFamily="34" charset="0"/>
              </a:rPr>
              <a:t>Mobile app for employee self-service attendance &amp; leave management.</a:t>
            </a:r>
          </a:p>
        </p:txBody>
      </p:sp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6504</TotalTime>
  <Words>3095</Words>
  <Application>Microsoft Office PowerPoint</Application>
  <PresentationFormat>On-screen Show (4:3)</PresentationFormat>
  <Paragraphs>368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Cambria</vt:lpstr>
      <vt:lpstr>Garamond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Ishan Jha</cp:lastModifiedBy>
  <cp:revision>398</cp:revision>
  <cp:lastPrinted>2022-09-05T08:43:44Z</cp:lastPrinted>
  <dcterms:created xsi:type="dcterms:W3CDTF">2020-01-16T09:05:56Z</dcterms:created>
  <dcterms:modified xsi:type="dcterms:W3CDTF">2026-04-13T05:29:07Z</dcterms:modified>
</cp:coreProperties>
</file>